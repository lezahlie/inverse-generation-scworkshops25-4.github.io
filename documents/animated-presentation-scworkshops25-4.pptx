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  <p:sldMasterId id="2147483693" r:id="rId2"/>
  </p:sldMasterIdLst>
  <p:notesMasterIdLst>
    <p:notesMasterId r:id="rId26"/>
  </p:notesMasterIdLst>
  <p:handoutMasterIdLst>
    <p:handoutMasterId r:id="rId27"/>
  </p:handoutMasterIdLst>
  <p:sldIdLst>
    <p:sldId id="277" r:id="rId3"/>
    <p:sldId id="321" r:id="rId4"/>
    <p:sldId id="363" r:id="rId5"/>
    <p:sldId id="387" r:id="rId6"/>
    <p:sldId id="388" r:id="rId7"/>
    <p:sldId id="395" r:id="rId8"/>
    <p:sldId id="400" r:id="rId9"/>
    <p:sldId id="401" r:id="rId10"/>
    <p:sldId id="404" r:id="rId11"/>
    <p:sldId id="521" r:id="rId12"/>
    <p:sldId id="368" r:id="rId13"/>
    <p:sldId id="361" r:id="rId14"/>
    <p:sldId id="394" r:id="rId15"/>
    <p:sldId id="362" r:id="rId16"/>
    <p:sldId id="392" r:id="rId17"/>
    <p:sldId id="365" r:id="rId18"/>
    <p:sldId id="405" r:id="rId19"/>
    <p:sldId id="520" r:id="rId20"/>
    <p:sldId id="324" r:id="rId21"/>
    <p:sldId id="344" r:id="rId22"/>
    <p:sldId id="345" r:id="rId23"/>
    <p:sldId id="339" r:id="rId24"/>
    <p:sldId id="340" r:id="rId2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Source Sans Pro" panose="020B0503030403020204" pitchFamily="34" charset="0"/>
      <p:regular r:id="rId29"/>
      <p:bold r:id="rId30"/>
      <p:italic r:id="rId31"/>
      <p:boldItalic r:id="rId32"/>
    </p:embeddedFont>
    <p:embeddedFont>
      <p:font typeface="Wingdings 2" panose="05020102010507070707" pitchFamily="18" charset="2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64"/>
    <a:srgbClr val="FF9129"/>
    <a:srgbClr val="0070C1"/>
    <a:srgbClr val="3A8F6C"/>
    <a:srgbClr val="0A197E"/>
    <a:srgbClr val="1A70B8"/>
    <a:srgbClr val="A6A6A6"/>
    <a:srgbClr val="FFFFFF"/>
    <a:srgbClr val="000F7E"/>
    <a:srgbClr val="0919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0" autoAdjust="0"/>
    <p:restoredTop sz="97089" autoAdjust="0"/>
  </p:normalViewPr>
  <p:slideViewPr>
    <p:cSldViewPr snapToGrid="0" snapToObjects="1" showGuides="1">
      <p:cViewPr>
        <p:scale>
          <a:sx n="200" d="100"/>
          <a:sy n="200" d="100"/>
        </p:scale>
        <p:origin x="144" y="144"/>
      </p:cViewPr>
      <p:guideLst>
        <p:guide pos="648"/>
        <p:guide orient="horz" pos="1620"/>
      </p:guideLst>
    </p:cSldViewPr>
  </p:slideViewPr>
  <p:outlineViewPr>
    <p:cViewPr>
      <p:scale>
        <a:sx n="33" d="100"/>
        <a:sy n="33" d="100"/>
      </p:scale>
      <p:origin x="0" y="-1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 showGuides="1">
      <p:cViewPr varScale="1">
        <p:scale>
          <a:sx n="108" d="100"/>
          <a:sy n="108" d="100"/>
        </p:scale>
        <p:origin x="5262" y="12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E6B804-3E45-364D-A045-BB358CB8E6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BAC92-B99D-FF4D-A990-D686745CA7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5749E-04CE-F245-A958-C4F030697BC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6A46C-39E5-FF4C-9921-815AC4BE94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FC7B7-2133-5C4A-AC28-C1AA9FF1AC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CEA21-F2A0-454B-B622-7D3A8835AF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F264E-8066-E947-B6B5-B5BD434D7B6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8D52D-A3F1-4B43-9554-93E43582D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3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D52D-A3F1-4B43-9554-93E43582DB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34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8D52D-A3F1-4B43-9554-93E43582DB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4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A78D693-BA62-1E4A-A3D2-53CDC72AAE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8561" y="190440"/>
            <a:ext cx="8805439" cy="4953060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374" y="1486403"/>
            <a:ext cx="3830320" cy="1169551"/>
          </a:xfrm>
        </p:spPr>
        <p:txBody>
          <a:bodyPr lIns="0" tIns="0" rIns="0" bIns="0" anchor="t" anchorCtr="0">
            <a:normAutofit/>
          </a:bodyPr>
          <a:lstStyle>
            <a:lvl1pPr algn="l" fontAlgn="t">
              <a:lnSpc>
                <a:spcPct val="100000"/>
              </a:lnSpc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 of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71309"/>
            <a:ext cx="3830320" cy="485140"/>
          </a:xfrm>
        </p:spPr>
        <p:txBody>
          <a:bodyPr lIns="0" tIns="0" rIns="0" bIns="0"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presenter or presenting org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000446-DC24-2642-A21F-0BEA00731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297127"/>
            <a:ext cx="2714105" cy="243609"/>
          </a:xfrm>
        </p:spPr>
        <p:txBody>
          <a:bodyPr lIns="0" tIns="0" rIns="0" bIns="0"/>
          <a:lstStyle>
            <a:lvl1pPr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the date of the presentation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5AE9854-7A76-C34E-9D7F-DE749A698C73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9122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DD9D28ED-2D06-3A46-9727-8A9B2D7E7F63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11/17/2025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15BFA-90C1-0F46-AAA7-8C67D48F46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140122"/>
            <a:ext cx="2597150" cy="379412"/>
          </a:xfrm>
        </p:spPr>
        <p:txBody>
          <a:bodyPr lIns="0" tIns="0" rIns="0" bIns="0" anchor="t" anchorCtr="0"/>
          <a:lstStyle>
            <a:lvl1pPr>
              <a:buFontTx/>
              <a:buNone/>
              <a:defRPr sz="1000">
                <a:solidFill>
                  <a:schemeClr val="bg1">
                    <a:lumMod val="65000"/>
                  </a:schemeClr>
                </a:solidFill>
              </a:defRPr>
            </a:lvl1pPr>
            <a:lvl2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2pPr>
            <a:lvl3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3pPr>
            <a:lvl4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4pPr>
            <a:lvl5pPr>
              <a:buFontTx/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LA-UR number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14CA33-8F7C-674C-8C40-9D83B5A1C5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401" y="4751400"/>
            <a:ext cx="598099" cy="2746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5E8F88-2F04-A24D-B64D-D31A64C16106}"/>
              </a:ext>
            </a:extLst>
          </p:cNvPr>
          <p:cNvSpPr txBox="1"/>
          <p:nvPr userDrawn="1"/>
        </p:nvSpPr>
        <p:spPr>
          <a:xfrm>
            <a:off x="918682" y="4859907"/>
            <a:ext cx="3888259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by Triad National Security, LLC, for the U.S. Department of Energy’s NNSA.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AD3CF4-4E6B-5AE4-8899-64D15CBD8B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rcRect l="10136" t="27092" r="10682" b="32550"/>
          <a:stretch>
            <a:fillRect/>
          </a:stretch>
        </p:blipFill>
        <p:spPr>
          <a:xfrm>
            <a:off x="166713" y="90884"/>
            <a:ext cx="2293579" cy="536781"/>
          </a:xfrm>
          <a:prstGeom prst="rect">
            <a:avLst/>
          </a:prstGeom>
        </p:spPr>
      </p:pic>
      <p:pic>
        <p:nvPicPr>
          <p:cNvPr id="24" name="Picture 2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F7A06D3-6311-8591-7981-86288A73B9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/>
          <a:srcRect l="2717" r="2865"/>
          <a:stretch>
            <a:fillRect/>
          </a:stretch>
        </p:blipFill>
        <p:spPr>
          <a:xfrm>
            <a:off x="2546216" y="78950"/>
            <a:ext cx="2131875" cy="545016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94D3A90-5F15-D250-7FC9-BB6AFD9098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359" y="132002"/>
            <a:ext cx="2398610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A black and white logo&#10;&#10;AI-generated content may be incorrect.">
            <a:extLst>
              <a:ext uri="{FF2B5EF4-FFF2-40B4-BE49-F238E27FC236}">
                <a16:creationId xmlns:a16="http://schemas.microsoft.com/office/drawing/2014/main" id="{FFF598B1-BD12-A35D-6B86-C666927F800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13237" y="96391"/>
            <a:ext cx="1612335" cy="69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53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 Statemen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7" cy="5143500"/>
          </a:xfrm>
          <a:noFill/>
          <a:ln>
            <a:noFill/>
          </a:ln>
        </p:spPr>
        <p:txBody>
          <a:bodyPr/>
          <a:lstStyle>
            <a:lvl1pPr>
              <a:buFontTx/>
              <a:buNone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3296A8-807F-5647-9E27-81056A808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628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6E7E14-724D-564D-8C8A-AA19AF322B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1609" y="4420821"/>
            <a:ext cx="1505063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950A1-C470-5C48-B92A-282D2269A9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559495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sies Text and  Photo Statemen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14875" y="0"/>
            <a:ext cx="4429125" cy="5143500"/>
          </a:xfrm>
          <a:noFill/>
          <a:ln>
            <a:noFill/>
          </a:ln>
        </p:spPr>
        <p:txBody>
          <a:bodyPr/>
          <a:lstStyle>
            <a:lvl1pPr>
              <a:buFontTx/>
              <a:buNone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3296A8-807F-5647-9E27-81056A8089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1148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6E7E14-724D-564D-8C8A-AA19AF322B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1609" y="4420821"/>
            <a:ext cx="1505063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950A1-C470-5C48-B92A-282D2269A9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1" y="1143000"/>
            <a:ext cx="4114800" cy="3195638"/>
          </a:xfrm>
        </p:spPr>
        <p:txBody>
          <a:bodyPr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54AAEEF8-F6D5-328E-535B-23958C7B36C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7199" y="4450531"/>
            <a:ext cx="4186239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FF91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3229973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-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8229600" cy="3195638"/>
          </a:xfrm>
        </p:spPr>
        <p:txBody>
          <a:bodyPr wrap="square"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 marL="460375" indent="-230188">
              <a:tabLst/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 marL="914400" indent="-227013">
              <a:tabLst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7765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_w logo wtrm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CB73A-3EB2-0F4B-A749-FE602CE5F2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867" t="3208" r="30052" b="19629"/>
          <a:stretch/>
        </p:blipFill>
        <p:spPr>
          <a:xfrm>
            <a:off x="3064933" y="-141546"/>
            <a:ext cx="6079068" cy="528504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6054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0429E5-795A-8A43-A273-2BC100111C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2999"/>
            <a:ext cx="8226054" cy="3200400"/>
          </a:xfrm>
        </p:spPr>
        <p:txBody>
          <a:bodyPr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51EB0E6-A70D-CE45-BB73-DE0110A910ED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6001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7AA508B-E60F-E649-B511-759C564E884D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320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39BF0A-C635-544F-850F-946AD8E7975B}" type="datetime1">
              <a:rPr lang="en-US" smtClean="0"/>
              <a:pPr/>
              <a:t>11/13/2025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439E80-1734-A3E1-7648-87B257ACAF44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1441066" y="4763743"/>
            <a:ext cx="1143000" cy="27524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2D84616-87E6-AC6E-2878-DDBE3622BAE6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 bwMode="auto">
          <a:xfrm>
            <a:off x="2639891" y="4801560"/>
            <a:ext cx="1124712" cy="20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997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225D86E-8C5D-1841-9FAC-7F2781607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43000"/>
            <a:ext cx="8226055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6054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0429E5-795A-8A43-A273-2BC100111C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508760"/>
            <a:ext cx="8226054" cy="2906613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50234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08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Whit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82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l White_SPA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4CCBC961-C98F-F810-2618-F732D27E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29029" y="1700167"/>
            <a:ext cx="1285941" cy="17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78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l_White_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2B8BC8D3-5D9E-E7D6-E55A-D954219A57E0}"/>
              </a:ext>
            </a:extLst>
          </p:cNvPr>
          <p:cNvPicPr/>
          <p:nvPr userDrawn="1"/>
        </p:nvPicPr>
        <p:blipFill>
          <a:blip r:embed="rId2"/>
          <a:srcRect l="62" r="62"/>
          <a:stretch/>
        </p:blipFill>
        <p:spPr>
          <a:xfrm>
            <a:off x="107337" y="4461700"/>
            <a:ext cx="2293579" cy="53678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0EC73C9-C884-8727-960C-4960E127176C}"/>
              </a:ext>
            </a:extLst>
          </p:cNvPr>
          <p:cNvPicPr/>
          <p:nvPr userDrawn="1"/>
        </p:nvPicPr>
        <p:blipFill>
          <a:blip r:embed="rId3"/>
          <a:srcRect t="41" b="41"/>
          <a:stretch/>
        </p:blipFill>
        <p:spPr>
          <a:xfrm>
            <a:off x="2486840" y="4449766"/>
            <a:ext cx="2131875" cy="545016"/>
          </a:xfrm>
          <a:prstGeom prst="rect">
            <a:avLst/>
          </a:prstGeom>
        </p:spPr>
      </p:pic>
      <p:pic>
        <p:nvPicPr>
          <p:cNvPr id="64" name="Picture 4">
            <a:extLst>
              <a:ext uri="{FF2B5EF4-FFF2-40B4-BE49-F238E27FC236}">
                <a16:creationId xmlns:a16="http://schemas.microsoft.com/office/drawing/2014/main" id="{58227E32-DF10-2917-6590-3AB38F0DCFF5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 bwMode="auto">
          <a:xfrm>
            <a:off x="4736983" y="4504105"/>
            <a:ext cx="2398610" cy="43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6A6A83C-9124-5BD0-B9D4-8469082E56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14821" y="4358401"/>
            <a:ext cx="1487636" cy="640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F9FB42-13D9-E77A-AD4D-D867672A1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364" y="145019"/>
            <a:ext cx="4499272" cy="430887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defRPr>
            </a:lvl1pPr>
          </a:lstStyle>
          <a:p>
            <a:pPr lvl="0"/>
            <a:r>
              <a:rPr lang="en-US" dirty="0"/>
              <a:t>Thank You!  Questions?</a:t>
            </a:r>
          </a:p>
        </p:txBody>
      </p:sp>
    </p:spTree>
    <p:extLst>
      <p:ext uri="{BB962C8B-B14F-4D97-AF65-F5344CB8AC3E}">
        <p14:creationId xmlns:p14="http://schemas.microsoft.com/office/powerpoint/2010/main" val="3004525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0" userDrawn="1">
          <p15:clr>
            <a:srgbClr val="FBAE40"/>
          </p15:clr>
        </p15:guide>
        <p15:guide id="2" pos="2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nt with Text and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7" cy="514350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DBF6C-0676-5247-8404-7764B27D9124}"/>
              </a:ext>
            </a:extLst>
          </p:cNvPr>
          <p:cNvSpPr/>
          <p:nvPr userDrawn="1"/>
        </p:nvSpPr>
        <p:spPr>
          <a:xfrm>
            <a:off x="0" y="0"/>
            <a:ext cx="5376672" cy="5143500"/>
          </a:xfrm>
          <a:prstGeom prst="rect">
            <a:avLst/>
          </a:prstGeom>
          <a:solidFill>
            <a:srgbClr val="000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DF54824-3A03-A745-AD49-C744B2A21D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709C09F-8C0C-7248-AEB2-1C7859F51F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94CDEA-D510-9F45-84BD-82CAA8464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44A7A8-335B-174E-9471-7B8989F429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F71DC6-DAB8-DB32-B5FE-2B1557DA54B3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1428409" y="4772786"/>
            <a:ext cx="1063215" cy="256031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82C68AF5-10D5-B37E-2E23-3E66BFF0E62C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 bwMode="auto">
          <a:xfrm>
            <a:off x="2549438" y="4794029"/>
            <a:ext cx="1099406" cy="20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8925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Photo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56035B-8130-D844-B0F2-44CBE0D286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6673" y="2571750"/>
            <a:ext cx="3767327" cy="2571750"/>
          </a:xfrm>
          <a:noFill/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8" cy="257175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B4117486-5C49-E242-8CBE-03C8F87112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FE409C5D-AFD1-7745-A713-F12280BE81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E46F9CE-9C02-284E-A17F-0C31F82B2F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/>
            </a:lvl1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9677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ent with 2 Photos and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56035B-8130-D844-B0F2-44CBE0D286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6673" y="2571750"/>
            <a:ext cx="3767328" cy="2571750"/>
          </a:xfrm>
          <a:noFill/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DBF6C-0676-5247-8404-7764B27D9124}"/>
              </a:ext>
            </a:extLst>
          </p:cNvPr>
          <p:cNvSpPr/>
          <p:nvPr userDrawn="1"/>
        </p:nvSpPr>
        <p:spPr>
          <a:xfrm>
            <a:off x="0" y="0"/>
            <a:ext cx="5376672" cy="5143500"/>
          </a:xfrm>
          <a:prstGeom prst="rect">
            <a:avLst/>
          </a:prstGeom>
          <a:solidFill>
            <a:srgbClr val="000F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6CF9DAC-DCA3-AD4A-B1B3-5725742FC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6672" y="0"/>
            <a:ext cx="3767328" cy="2571750"/>
          </a:xfrm>
          <a:noFill/>
          <a:ln>
            <a:noFill/>
          </a:ln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25C079B-5F34-5149-9937-5E0A7D1910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4523368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C113B2A-25B6-4D4F-BE66-8FD128DADF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71609" y="4420821"/>
            <a:ext cx="1505254" cy="4251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4511911-ADCF-3F4A-9C7A-1469A5E074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143000"/>
            <a:ext cx="4525963" cy="319563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D63CF-6FD0-1523-3799-FA6E11ACD5F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FCB8B-034C-8462-5EA4-344894D91FBE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1428409" y="4772786"/>
            <a:ext cx="1063215" cy="256031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E602821B-523B-CEC6-252D-2F6131E44CE3}"/>
              </a:ext>
            </a:extLst>
          </p:cNvPr>
          <p:cNvPicPr/>
          <p:nvPr userDrawn="1"/>
        </p:nvPicPr>
        <p:blipFill>
          <a:blip r:embed="rId4"/>
          <a:srcRect/>
          <a:stretch/>
        </p:blipFill>
        <p:spPr bwMode="auto">
          <a:xfrm>
            <a:off x="2549438" y="4794029"/>
            <a:ext cx="1099406" cy="20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40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Area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D46214E2-32D4-424B-9DE1-4EDE442968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143000"/>
            <a:ext cx="3840480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40E4E95-1B27-5348-9471-7BB69800ED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1B65E676-959E-0E41-8EAD-45D6F7E076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6320" y="1143000"/>
            <a:ext cx="3840480" cy="272381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1900B1-3D44-764E-9A42-70386E05E5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1508760"/>
            <a:ext cx="3840480" cy="303476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8685422-C0F4-174C-BFA6-015246A3D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46320" y="1508760"/>
            <a:ext cx="3840480" cy="3034768"/>
          </a:xfrm>
        </p:spPr>
        <p:txBody>
          <a:bodyPr lIns="0" tIns="0" rIns="0" bIns="0">
            <a:noAutofit/>
          </a:bodyPr>
          <a:lstStyle>
            <a:lvl1pPr marL="182880" indent="-182880">
              <a:lnSpc>
                <a:spcPct val="100000"/>
              </a:lnSpc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78109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 and Tex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4D7D689-7F2D-0348-816C-97C77A8DA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DB2A39F7-5A62-2B4C-A657-BD57B5768EF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7200" y="1143000"/>
            <a:ext cx="368503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CCEB416-B433-8F46-8DFF-FFAC7ACCA5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3520440"/>
            <a:ext cx="3685032" cy="18108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66B16311-DD9F-7D43-964B-E92B217DC39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7200" y="3840480"/>
            <a:ext cx="368503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023AA45D-8199-F644-847B-E64A5EC3FB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246120"/>
            <a:ext cx="368503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2652C890-3579-2E47-9AB6-1D78A5E4764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01768" y="1143000"/>
            <a:ext cx="368503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DD1D0C09-D811-144F-BEBD-275B6A1207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01768" y="3520440"/>
            <a:ext cx="3685032" cy="181084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2213ED2D-D77F-7D49-9E2D-96B09A5A751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01768" y="3840480"/>
            <a:ext cx="368503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5AA83665-F240-0345-B903-C8950DEFAF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01768" y="3246120"/>
            <a:ext cx="368503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3352064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4D7D689-7F2D-0348-816C-97C77A8DA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890" y="282363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DB2A39F7-5A62-2B4C-A657-BD57B5768EF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61257" y="967688"/>
            <a:ext cx="4310743" cy="3105124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CCEB416-B433-8F46-8DFF-FFAC7ACCA5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199" y="4140348"/>
            <a:ext cx="8248543" cy="35803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1A70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2652C890-3579-2E47-9AB6-1D78A5E4764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81469" y="970124"/>
            <a:ext cx="4301273" cy="310268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726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13F276B-7B5E-4A45-AB9F-2B475F2AEA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143000"/>
            <a:ext cx="249328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225D86E-8C5D-1841-9FAC-7F2781607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3F0E9DEE-404F-3B49-8159-94FE1CD373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7A3DBA4-BE0E-254D-B5C0-8A64DDD66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41D2BBC2-2746-3640-A719-673E2A8446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200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89502A4B-C79D-094E-AB5C-63DF6E12EF8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27400" y="1143000"/>
            <a:ext cx="249631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EAC29D9-3DBA-0242-8290-359D5CA84B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35992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3F9A309D-AA80-C54C-9A92-012D53D91C2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35992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03EA5BB2-66F6-4F44-964B-E9F9D73F21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35991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898309A4-718B-084E-8229-17E4D40AEA4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88617" y="1143000"/>
            <a:ext cx="2496312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6A0BC0D-8996-364B-A361-13CBBB9B478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8777" y="352044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9198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8D60D97D-2394-F140-9FBA-975ED64074F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9632" y="3840480"/>
            <a:ext cx="2496312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5AA90BFA-AE15-3049-88D8-EA2FDB94E7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98067" y="3246120"/>
            <a:ext cx="2496312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2929323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" userDrawn="1">
          <p15:clr>
            <a:srgbClr val="FBAE40"/>
          </p15:clr>
        </p15:guide>
        <p15:guide id="2" pos="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61FE822B-AC64-EF4D-8FBA-F5A67DA6075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5720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5F05C8A-25A6-8743-93FA-19E18F32CEE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720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5FCE87CD-A10E-D049-9E39-8C800BEF41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819E2C4F-8306-5F45-9827-3921D5E3E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D4247F89-81E5-374A-93B4-95F0EBEEB19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60096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F7F65FAA-0013-D547-8E1C-08509B0C975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60096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E0CC8275-50BB-9D46-8CBD-03E17397C17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60096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F4ED884-6C25-824B-BDBF-AF0431A6640B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73456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AA0BC496-BA6C-7C4D-AC5E-A59885AE42A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73456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07D1AADA-118E-BE41-B80B-51BBD18F656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3456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4E11C2-3904-B24A-8E60-8EA03D6D30B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3456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17E6B775-F183-E24D-B8C8-C5A9D75E35B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858000" y="1143000"/>
            <a:ext cx="1828800" cy="202996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A052C5-1320-4341-BC7F-17F881F3CCB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858000" y="352044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BD7FEF4-B67E-064E-B1C5-49DA8EA685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858000" y="3840480"/>
            <a:ext cx="1828800" cy="73152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EF1030E4-D0AC-614F-A18A-38721222865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58000" y="324612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57B4D06-BD92-7545-B5A7-8502A75042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3268980"/>
            <a:ext cx="1828800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caption for image</a:t>
            </a:r>
          </a:p>
        </p:txBody>
      </p:sp>
    </p:spTree>
    <p:extLst>
      <p:ext uri="{BB962C8B-B14F-4D97-AF65-F5344CB8AC3E}">
        <p14:creationId xmlns:p14="http://schemas.microsoft.com/office/powerpoint/2010/main" val="26194956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eritical Images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61FE822B-AC64-EF4D-8FBA-F5A67DA6075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220324" y="867271"/>
            <a:ext cx="2286000" cy="3493383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55F05C8A-25A6-8743-93FA-19E18F32CEE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7200" y="4471035"/>
            <a:ext cx="8229601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1A70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819E2C4F-8306-5F45-9827-3921D5E3E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385" y="254566"/>
            <a:ext cx="8293459" cy="606635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D4247F89-81E5-374A-93B4-95F0EBEEB19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2514600" y="861202"/>
            <a:ext cx="2057400" cy="3498978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CF4ED884-6C25-824B-BDBF-AF0431A6640B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580276" y="867271"/>
            <a:ext cx="2286000" cy="3492909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17E6B775-F183-E24D-B8C8-C5A9D75E35B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874552" y="864814"/>
            <a:ext cx="2021683" cy="3491754"/>
          </a:xfr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758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White_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0C70A86-A745-E949-B1D0-41B5D2173B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0F7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374AFBB-4A85-9144-9EB0-15F9294B61F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200" y="1143000"/>
            <a:ext cx="8229600" cy="3106216"/>
          </a:xfrm>
        </p:spPr>
        <p:txBody>
          <a:bodyPr/>
          <a:lstStyle>
            <a:lvl1pPr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graph, photo, or data visualization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1237F-D7E9-904A-BC33-1E69BDE7303D}"/>
              </a:ext>
            </a:extLst>
          </p:cNvPr>
          <p:cNvSpPr/>
          <p:nvPr userDrawn="1"/>
        </p:nvSpPr>
        <p:spPr>
          <a:xfrm>
            <a:off x="-832136" y="0"/>
            <a:ext cx="565609" cy="565609"/>
          </a:xfrm>
          <a:prstGeom prst="rect">
            <a:avLst/>
          </a:prstGeom>
          <a:solidFill>
            <a:srgbClr val="0A1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0030-82A1-3149-AAC5-8B912D85AC60}"/>
              </a:ext>
            </a:extLst>
          </p:cNvPr>
          <p:cNvSpPr/>
          <p:nvPr userDrawn="1"/>
        </p:nvSpPr>
        <p:spPr>
          <a:xfrm>
            <a:off x="-832136" y="999242"/>
            <a:ext cx="565609" cy="565609"/>
          </a:xfrm>
          <a:prstGeom prst="rect">
            <a:avLst/>
          </a:prstGeom>
          <a:solidFill>
            <a:srgbClr val="1A70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A197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678108-D8E6-6F48-9E71-79B4060AB9EF}"/>
              </a:ext>
            </a:extLst>
          </p:cNvPr>
          <p:cNvSpPr/>
          <p:nvPr userDrawn="1"/>
        </p:nvSpPr>
        <p:spPr>
          <a:xfrm>
            <a:off x="-832136" y="2036191"/>
            <a:ext cx="565609" cy="565609"/>
          </a:xfrm>
          <a:prstGeom prst="rect">
            <a:avLst/>
          </a:prstGeom>
          <a:solidFill>
            <a:srgbClr val="00AA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500438-DFE5-1541-A57C-CCDAE308867C}"/>
              </a:ext>
            </a:extLst>
          </p:cNvPr>
          <p:cNvSpPr/>
          <p:nvPr userDrawn="1"/>
        </p:nvSpPr>
        <p:spPr>
          <a:xfrm>
            <a:off x="-832136" y="3073140"/>
            <a:ext cx="565609" cy="565609"/>
          </a:xfrm>
          <a:prstGeom prst="rect">
            <a:avLst/>
          </a:prstGeom>
          <a:solidFill>
            <a:srgbClr val="FF912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912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0A870-4CCE-B041-ADAA-FFD498F6B5DE}"/>
              </a:ext>
            </a:extLst>
          </p:cNvPr>
          <p:cNvSpPr txBox="1"/>
          <p:nvPr userDrawn="1"/>
        </p:nvSpPr>
        <p:spPr>
          <a:xfrm>
            <a:off x="-1784645" y="-715416"/>
            <a:ext cx="1518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LANL-APPROVED 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PALETTE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AD157-F0FF-E841-B877-5FF726EE6DB4}"/>
              </a:ext>
            </a:extLst>
          </p:cNvPr>
          <p:cNvSpPr txBox="1"/>
          <p:nvPr userDrawn="1"/>
        </p:nvSpPr>
        <p:spPr>
          <a:xfrm>
            <a:off x="-2109430" y="-249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COLOR: ULTRAMARINE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F9DA1-1206-D94F-936A-8C56D3FA0437}"/>
              </a:ext>
            </a:extLst>
          </p:cNvPr>
          <p:cNvSpPr txBox="1"/>
          <p:nvPr userDrawn="1"/>
        </p:nvSpPr>
        <p:spPr>
          <a:xfrm>
            <a:off x="-2109430" y="98731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COLOR: BLUE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18CEFD-1271-3F43-A3DB-664C3A2A6F61}"/>
              </a:ext>
            </a:extLst>
          </p:cNvPr>
          <p:cNvSpPr txBox="1"/>
          <p:nvPr userDrawn="1"/>
        </p:nvSpPr>
        <p:spPr>
          <a:xfrm>
            <a:off x="-2109430" y="2033693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GREEN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2C2957-98B7-7447-A979-8F5F9439F931}"/>
              </a:ext>
            </a:extLst>
          </p:cNvPr>
          <p:cNvSpPr txBox="1"/>
          <p:nvPr userDrawn="1"/>
        </p:nvSpPr>
        <p:spPr>
          <a:xfrm>
            <a:off x="-2109430" y="3080068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ORANGE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D5F0D-5C60-5143-BF1E-4A0546C4287F}"/>
              </a:ext>
            </a:extLst>
          </p:cNvPr>
          <p:cNvSpPr/>
          <p:nvPr userDrawn="1"/>
        </p:nvSpPr>
        <p:spPr>
          <a:xfrm>
            <a:off x="-832136" y="4156183"/>
            <a:ext cx="565609" cy="5656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A6A2F-D5F2-CB4B-A618-B3021CB6FE30}"/>
              </a:ext>
            </a:extLst>
          </p:cNvPr>
          <p:cNvSpPr txBox="1"/>
          <p:nvPr userDrawn="1"/>
        </p:nvSpPr>
        <p:spPr>
          <a:xfrm>
            <a:off x="-2109430" y="4163111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MONOCHROMATIC: GREY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A4FB80A-94DF-8718-1633-C1315EE45E1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57199" y="4450531"/>
            <a:ext cx="8229601" cy="182880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>
                <a:solidFill>
                  <a:srgbClr val="00AA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</p:spTree>
    <p:extLst>
      <p:ext uri="{BB962C8B-B14F-4D97-AF65-F5344CB8AC3E}">
        <p14:creationId xmlns:p14="http://schemas.microsoft.com/office/powerpoint/2010/main" val="416387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l White_Adde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0C70A86-A745-E949-B1D0-41B5D2173B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2804"/>
            <a:ext cx="8229600" cy="369332"/>
          </a:xfr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2400" b="1" i="0">
                <a:solidFill>
                  <a:srgbClr val="0070C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374AFBB-4A85-9144-9EB0-15F9294B61F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57200" y="767786"/>
            <a:ext cx="8229600" cy="4092909"/>
          </a:xfrm>
        </p:spPr>
        <p:txBody>
          <a:bodyPr>
            <a:noAutofit/>
          </a:bodyPr>
          <a:lstStyle>
            <a:lvl1pPr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graph, photo, or data visualization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1237F-D7E9-904A-BC33-1E69BDE7303D}"/>
              </a:ext>
            </a:extLst>
          </p:cNvPr>
          <p:cNvSpPr/>
          <p:nvPr userDrawn="1"/>
        </p:nvSpPr>
        <p:spPr>
          <a:xfrm>
            <a:off x="-832136" y="0"/>
            <a:ext cx="565609" cy="565609"/>
          </a:xfrm>
          <a:prstGeom prst="rect">
            <a:avLst/>
          </a:prstGeom>
          <a:solidFill>
            <a:srgbClr val="0A19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B0030-82A1-3149-AAC5-8B912D85AC60}"/>
              </a:ext>
            </a:extLst>
          </p:cNvPr>
          <p:cNvSpPr/>
          <p:nvPr userDrawn="1"/>
        </p:nvSpPr>
        <p:spPr>
          <a:xfrm>
            <a:off x="-832136" y="999242"/>
            <a:ext cx="565609" cy="565609"/>
          </a:xfrm>
          <a:prstGeom prst="rect">
            <a:avLst/>
          </a:prstGeom>
          <a:solidFill>
            <a:srgbClr val="1A70B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678108-D8E6-6F48-9E71-79B4060AB9EF}"/>
              </a:ext>
            </a:extLst>
          </p:cNvPr>
          <p:cNvSpPr/>
          <p:nvPr userDrawn="1"/>
        </p:nvSpPr>
        <p:spPr>
          <a:xfrm>
            <a:off x="-832136" y="2036191"/>
            <a:ext cx="565609" cy="565609"/>
          </a:xfrm>
          <a:prstGeom prst="rect">
            <a:avLst/>
          </a:prstGeom>
          <a:solidFill>
            <a:srgbClr val="00AA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A6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500438-DFE5-1541-A57C-CCDAE308867C}"/>
              </a:ext>
            </a:extLst>
          </p:cNvPr>
          <p:cNvSpPr/>
          <p:nvPr userDrawn="1"/>
        </p:nvSpPr>
        <p:spPr>
          <a:xfrm>
            <a:off x="-832136" y="3073140"/>
            <a:ext cx="565609" cy="565609"/>
          </a:xfrm>
          <a:prstGeom prst="rect">
            <a:avLst/>
          </a:prstGeom>
          <a:solidFill>
            <a:srgbClr val="FF912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0A870-4CCE-B041-ADAA-FFD498F6B5DE}"/>
              </a:ext>
            </a:extLst>
          </p:cNvPr>
          <p:cNvSpPr txBox="1"/>
          <p:nvPr userDrawn="1"/>
        </p:nvSpPr>
        <p:spPr>
          <a:xfrm>
            <a:off x="-1784645" y="-715416"/>
            <a:ext cx="1518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LANL-APPROVED 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PALETTE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AD157-F0FF-E841-B877-5FF726EE6DB4}"/>
              </a:ext>
            </a:extLst>
          </p:cNvPr>
          <p:cNvSpPr txBox="1"/>
          <p:nvPr userDrawn="1"/>
        </p:nvSpPr>
        <p:spPr>
          <a:xfrm>
            <a:off x="-2109430" y="-249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COLOR: ULTRAMARINE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EF9DA1-1206-D94F-936A-8C56D3FA0437}"/>
              </a:ext>
            </a:extLst>
          </p:cNvPr>
          <p:cNvSpPr txBox="1"/>
          <p:nvPr userDrawn="1"/>
        </p:nvSpPr>
        <p:spPr>
          <a:xfrm>
            <a:off x="-2109430" y="987317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COLOR: BLUE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18CEFD-1271-3F43-A3DB-664C3A2A6F61}"/>
              </a:ext>
            </a:extLst>
          </p:cNvPr>
          <p:cNvSpPr txBox="1"/>
          <p:nvPr userDrawn="1"/>
        </p:nvSpPr>
        <p:spPr>
          <a:xfrm>
            <a:off x="-2109430" y="2033693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GREEN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2C2957-98B7-7447-A979-8F5F9439F931}"/>
              </a:ext>
            </a:extLst>
          </p:cNvPr>
          <p:cNvSpPr txBox="1"/>
          <p:nvPr userDrawn="1"/>
        </p:nvSpPr>
        <p:spPr>
          <a:xfrm>
            <a:off x="-2109430" y="3080068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 PALETTE: ORANGE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7D5F0D-5C60-5143-BF1E-4A0546C4287F}"/>
              </a:ext>
            </a:extLst>
          </p:cNvPr>
          <p:cNvSpPr/>
          <p:nvPr userDrawn="1"/>
        </p:nvSpPr>
        <p:spPr>
          <a:xfrm>
            <a:off x="-832136" y="4156183"/>
            <a:ext cx="565609" cy="5656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A6A2F-D5F2-CB4B-A618-B3021CB6FE30}"/>
              </a:ext>
            </a:extLst>
          </p:cNvPr>
          <p:cNvSpPr txBox="1"/>
          <p:nvPr userDrawn="1"/>
        </p:nvSpPr>
        <p:spPr>
          <a:xfrm>
            <a:off x="-2109430" y="4163111"/>
            <a:ext cx="130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MONOCHROMATIC: GREY</a:t>
            </a:r>
          </a:p>
        </p:txBody>
      </p:sp>
    </p:spTree>
    <p:extLst>
      <p:ext uri="{BB962C8B-B14F-4D97-AF65-F5344CB8AC3E}">
        <p14:creationId xmlns:p14="http://schemas.microsoft.com/office/powerpoint/2010/main" val="911188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C25BDFE-288F-694A-8F3E-5EA7C70FB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667512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543AE689-5E80-EF4B-BEB2-12EB7E2E7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671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F08DEE9-E8E9-294E-AFDB-272348017E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97816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515D795-953A-8047-83C7-D0752DBDB0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1063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EC01086B-B4A6-8A48-849F-4A810C93B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1419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2E775BD-5F42-B44F-98CB-85BE7A979F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6589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266F9AF-0547-674E-8536-FB560908A4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603643" y="2035380"/>
            <a:ext cx="1098804" cy="843802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F14FC34-4139-5E42-8B4C-3D14628AB15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3671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9C51006D-405B-1540-844A-A08EDAFBA8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17717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B91A61BE-01BD-F145-9B92-D20E78E3DA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21193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D5F2828C-B1EF-364B-8D48-33FAC26A31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45412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D5B74BE-11D4-3E4C-AA8A-16543EABA1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0883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A61A0372-A989-7542-8743-212304AD19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600235" y="1589748"/>
            <a:ext cx="248625" cy="213487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="0" i="0">
                <a:solidFill>
                  <a:srgbClr val="69C3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70A5-083D-2649-B16E-E603A2ACAC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519" y="3042072"/>
            <a:ext cx="1097280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60BD62F-9DEA-AD47-9777-0410E222A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68606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6520748F-3B1C-7D44-9F74-07C77A95BD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98553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1F05B3B-46BF-E34A-B6EB-3B5C40F9DF4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3305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70A64131-E697-7142-892C-FECA1AF2C5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72200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EF72F97E-E60E-FB4D-82AA-CB9ACA474A8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96233" y="3044952"/>
            <a:ext cx="1130626" cy="1289050"/>
          </a:xfrm>
        </p:spPr>
        <p:txBody>
          <a:bodyPr/>
          <a:lstStyle>
            <a:lvl1pPr marL="114300" indent="-114300">
              <a:tabLst/>
              <a:defRPr sz="1200"/>
            </a:lvl1pPr>
            <a:lvl2pPr marL="230188" indent="-115888">
              <a:tabLst/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add section summary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52133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-No Subhead"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C89D9-A95D-984D-AA31-A11221C38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457200"/>
            <a:ext cx="8229600" cy="66915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b="1" i="0">
                <a:latin typeface="Acumin Pro" panose="020B0504020202020204" pitchFamily="34" charset="77"/>
              </a:defRPr>
            </a:lvl2pPr>
            <a:lvl3pPr>
              <a:buNone/>
              <a:defRPr b="1" i="0">
                <a:latin typeface="Acumin Pro" panose="020B0504020202020204" pitchFamily="34" charset="77"/>
              </a:defRPr>
            </a:lvl3pPr>
            <a:lvl4pPr>
              <a:buNone/>
              <a:defRPr b="1" i="0">
                <a:latin typeface="Acumin Pro" panose="020B0504020202020204" pitchFamily="34" charset="77"/>
              </a:defRPr>
            </a:lvl4pPr>
            <a:lvl5pPr>
              <a:buNone/>
              <a:defRPr b="1" i="0">
                <a:latin typeface="Acumin Pro" panose="020B0504020202020204" pitchFamily="34" charset="77"/>
              </a:defRPr>
            </a:lvl5pPr>
          </a:lstStyle>
          <a:p>
            <a:pPr lvl="0"/>
            <a:r>
              <a:rPr lang="en-US" dirty="0"/>
              <a:t>Click to add a brief slide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24F4C0B-8E0E-D247-8998-89B0F977E9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1143000"/>
            <a:ext cx="12463272" cy="3195638"/>
          </a:xfrm>
        </p:spPr>
        <p:txBody>
          <a:bodyPr wrap="square" lIns="0" tIns="0" rIns="0" bIns="0">
            <a:noAutofit/>
          </a:bodyPr>
          <a:lstStyle>
            <a:lvl1pPr marL="230188" indent="-230188">
              <a:lnSpc>
                <a:spcPct val="100000"/>
              </a:lnSpc>
              <a:spcBef>
                <a:spcPts val="600"/>
              </a:spcBef>
              <a:tabLst/>
              <a:defRPr>
                <a:solidFill>
                  <a:schemeClr val="bg1"/>
                </a:solidFill>
              </a:defRPr>
            </a:lvl1pPr>
            <a:lvl2pPr marL="460375" indent="-230188">
              <a:tabLst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 marL="914400" indent="-227013">
              <a:tabLst/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first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68955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_TOC or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708-8F60-B848-8CBD-C589BF8C1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8229600" cy="685800"/>
          </a:xfrm>
        </p:spPr>
        <p:txBody>
          <a:bodyPr anchor="t" anchorCtr="0"/>
          <a:lstStyle>
            <a:lvl1pPr algn="l">
              <a:defRPr sz="240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7BDE90-6843-5841-BCCB-3479AD55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43000"/>
            <a:ext cx="8229600" cy="3200400"/>
          </a:xfrm>
        </p:spPr>
        <p:txBody>
          <a:bodyPr/>
          <a:lstStyle>
            <a:lvl1pPr marL="228600" indent="-228600">
              <a:buClr>
                <a:schemeClr val="bg1"/>
              </a:buClr>
              <a:tabLst/>
              <a:defRPr/>
            </a:lvl1pPr>
            <a:lvl2pPr marL="458788" indent="-230188">
              <a:buClr>
                <a:schemeClr val="bg1"/>
              </a:buClr>
              <a:buFont typeface="System Font Regular"/>
              <a:buChar char="⁃"/>
              <a:tabLst/>
              <a:defRPr/>
            </a:lvl2pPr>
            <a:lvl3pPr marL="687388" indent="-228600">
              <a:buClr>
                <a:schemeClr val="bg1"/>
              </a:buClr>
              <a:tabLst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60208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ckground 2_TOC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9708-8F60-B848-8CBD-C589BF8C1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200"/>
            <a:ext cx="8229600" cy="685800"/>
          </a:xfrm>
        </p:spPr>
        <p:txBody>
          <a:bodyPr anchor="t" anchorCtr="0"/>
          <a:lstStyle>
            <a:lvl1pPr algn="l">
              <a:defRPr sz="240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 Title, Table of Contents, or 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7BDE90-6843-5841-BCCB-3479AD558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143000"/>
            <a:ext cx="8229600" cy="3200400"/>
          </a:xfrm>
        </p:spPr>
        <p:txBody>
          <a:bodyPr/>
          <a:lstStyle>
            <a:lvl1pPr marL="228600" indent="-217488">
              <a:buClr>
                <a:srgbClr val="3296DC"/>
              </a:buClr>
              <a:buFont typeface="+mj-lt"/>
              <a:buAutoNum type="arabicPeriod"/>
              <a:tabLst/>
              <a:defRPr/>
            </a:lvl1pPr>
            <a:lvl2pPr marL="458788" indent="-230188">
              <a:buClr>
                <a:srgbClr val="3296DC"/>
              </a:buClr>
              <a:buFont typeface="+mj-lt"/>
              <a:buAutoNum type="arabicPeriod"/>
              <a:tabLst/>
              <a:defRPr/>
            </a:lvl2pPr>
            <a:lvl3pPr marL="687388" indent="-228600">
              <a:buClr>
                <a:srgbClr val="3296DC"/>
              </a:buClr>
              <a:buFont typeface="+mj-lt"/>
              <a:buAutoNum type="arabicPeriod"/>
              <a:tabLst/>
              <a:defRPr/>
            </a:lvl3pPr>
            <a:lvl4pPr marL="1546225" indent="-174625">
              <a:tabLst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298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5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6627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332841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3C9D7-E9D0-FF4B-A8C0-A88200BA90FB}"/>
              </a:ext>
            </a:extLst>
          </p:cNvPr>
          <p:cNvSpPr txBox="1">
            <a:spLocks/>
          </p:cNvSpPr>
          <p:nvPr userDrawn="1"/>
        </p:nvSpPr>
        <p:spPr>
          <a:xfrm>
            <a:off x="8708182" y="4846001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D9D28ED-2D06-3A46-9727-8A9B2D7E7F63}"/>
              </a:ext>
            </a:extLst>
          </p:cNvPr>
          <p:cNvSpPr txBox="1">
            <a:spLocks/>
          </p:cNvSpPr>
          <p:nvPr userDrawn="1"/>
        </p:nvSpPr>
        <p:spPr>
          <a:xfrm>
            <a:off x="8076886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11/17/2025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DDB747-6C5D-1648-A189-AC12B7E17882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29184" y="4811397"/>
            <a:ext cx="1033271" cy="202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18F841-242A-6B43-A489-BBBD17ED3762}"/>
              </a:ext>
            </a:extLst>
          </p:cNvPr>
          <p:cNvPicPr/>
          <p:nvPr userDrawn="1"/>
        </p:nvPicPr>
        <p:blipFill>
          <a:blip r:embed="rId23"/>
          <a:srcRect/>
          <a:stretch/>
        </p:blipFill>
        <p:spPr>
          <a:xfrm>
            <a:off x="1428409" y="4772786"/>
            <a:ext cx="1063215" cy="256032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762BFD65-8A41-B9A4-FB23-F764C7BDF249}"/>
              </a:ext>
            </a:extLst>
          </p:cNvPr>
          <p:cNvPicPr/>
          <p:nvPr userDrawn="1"/>
        </p:nvPicPr>
        <p:blipFill>
          <a:blip r:embed="rId24"/>
          <a:srcRect/>
          <a:stretch/>
        </p:blipFill>
        <p:spPr bwMode="auto">
          <a:xfrm>
            <a:off x="2546216" y="4794029"/>
            <a:ext cx="1105851" cy="20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56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714" r:id="rId3"/>
    <p:sldLayoutId id="2147483692" r:id="rId4"/>
    <p:sldLayoutId id="2147483707" r:id="rId5"/>
    <p:sldLayoutId id="2147483686" r:id="rId6"/>
    <p:sldLayoutId id="2147483690" r:id="rId7"/>
    <p:sldLayoutId id="2147483709" r:id="rId8"/>
    <p:sldLayoutId id="2147483710" r:id="rId9"/>
    <p:sldLayoutId id="2147483667" r:id="rId10"/>
    <p:sldLayoutId id="2147483688" r:id="rId11"/>
    <p:sldLayoutId id="2147483674" r:id="rId12"/>
    <p:sldLayoutId id="2147483684" r:id="rId13"/>
    <p:sldLayoutId id="2147483678" r:id="rId14"/>
    <p:sldLayoutId id="2147483712" r:id="rId15"/>
    <p:sldLayoutId id="2147483680" r:id="rId16"/>
    <p:sldLayoutId id="2147483682" r:id="rId17"/>
    <p:sldLayoutId id="2147483713" r:id="rId18"/>
    <p:sldLayoutId id="2147483689" r:id="rId19"/>
    <p:sldLayoutId id="2147483711" r:id="rId20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000F7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0188" indent="-2222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60375" indent="-2301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−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8975" indent="-231775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4400" indent="-22701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−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9A08365-AEEB-3D48-A287-0A6C23C5D3D6}"/>
              </a:ext>
            </a:extLst>
          </p:cNvPr>
          <p:cNvSpPr txBox="1">
            <a:spLocks/>
          </p:cNvSpPr>
          <p:nvPr userDrawn="1"/>
        </p:nvSpPr>
        <p:spPr>
          <a:xfrm>
            <a:off x="8705088" y="4849122"/>
            <a:ext cx="220485" cy="20285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</a:t>
            </a:r>
            <a:fld id="{F16E1515-8F3D-DE4D-94E5-8D9BEBCD7A49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198D408-451C-7649-B63F-9BB20EE7A64E}"/>
              </a:ext>
            </a:extLst>
          </p:cNvPr>
          <p:cNvSpPr txBox="1">
            <a:spLocks/>
          </p:cNvSpPr>
          <p:nvPr userDrawn="1"/>
        </p:nvSpPr>
        <p:spPr>
          <a:xfrm>
            <a:off x="8074152" y="4846002"/>
            <a:ext cx="609914" cy="14850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700" b="0" i="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11/17/2025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391D-1BCF-B249-A015-254233AE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886700" cy="6675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2BBD0-F847-394A-96EA-C2F6C3D0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7886700" cy="326231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0E74A-F632-C648-A3E6-DE91F97087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9184" y="4809234"/>
            <a:ext cx="1037332" cy="2028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EE4922-B7DE-6952-95A4-E36805346F0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7"/>
          <a:srcRect/>
          <a:stretch/>
        </p:blipFill>
        <p:spPr>
          <a:xfrm>
            <a:off x="1428409" y="4772786"/>
            <a:ext cx="1063215" cy="256031"/>
          </a:xfrm>
          <a:prstGeom prst="rect">
            <a:avLst/>
          </a:prstGeom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B8095699-9322-0329-383F-36EB7C10AFF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2549438" y="4794029"/>
            <a:ext cx="1099406" cy="20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9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8" r:id="rId2"/>
    <p:sldLayoutId id="2147483694" r:id="rId3"/>
    <p:sldLayoutId id="2147483705" r:id="rId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0663" algn="l" defTabSz="914400" rtl="0" eaLnBrk="1" latinLnBrk="0" hangingPunct="1">
        <a:lnSpc>
          <a:spcPct val="100000"/>
        </a:lnSpc>
        <a:spcBef>
          <a:spcPts val="600"/>
        </a:spcBef>
        <a:buClr>
          <a:schemeClr val="bg1"/>
        </a:buClr>
        <a:buFont typeface="Arial" panose="020B0604020202020204" pitchFamily="34" charset="0"/>
        <a:buChar char="•"/>
        <a:tabLst/>
        <a:defRPr sz="1800" b="0" i="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8788" indent="-230188" algn="l" defTabSz="914400" rtl="0" eaLnBrk="1" latinLnBrk="0" hangingPunct="1">
        <a:lnSpc>
          <a:spcPct val="90000"/>
        </a:lnSpc>
        <a:spcBef>
          <a:spcPts val="375"/>
        </a:spcBef>
        <a:buClr>
          <a:schemeClr val="bg1"/>
        </a:buClr>
        <a:buSzPct val="100000"/>
        <a:buFont typeface="System Font Regular"/>
        <a:buChar char="–"/>
        <a:tabLst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73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7575" indent="-230188" algn="l" defTabSz="914400" rtl="0" eaLnBrk="1" latinLnBrk="0" hangingPunct="1">
        <a:lnSpc>
          <a:spcPct val="90000"/>
        </a:lnSpc>
        <a:spcBef>
          <a:spcPts val="500"/>
        </a:spcBef>
        <a:buClr>
          <a:schemeClr val="bg1"/>
        </a:buClr>
        <a:buSzPct val="100000"/>
        <a:buFont typeface="System Font Regular"/>
        <a:buChar char="–"/>
        <a:tabLst/>
        <a:defRPr sz="1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q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F3B99C6-D0D0-D441-BB88-E3B30F0BF5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356352" y="845133"/>
            <a:ext cx="8163634" cy="1007088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+mj-lt"/>
              </a:rPr>
              <a:t>Inverse Design for Generating Initial Conditions in Scientific Simulations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397A665-BC2C-524C-A7EC-3526226D8D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3720302" y="4382190"/>
            <a:ext cx="4966498" cy="267457"/>
          </a:xfrm>
        </p:spPr>
        <p:txBody>
          <a:bodyPr>
            <a:noAutofit/>
          </a:bodyPr>
          <a:lstStyle/>
          <a:p>
            <a:pPr algn="r"/>
            <a:r>
              <a:rPr lang="en-US" sz="1400" b="1" dirty="0"/>
              <a:t>November 17, 2025 </a:t>
            </a:r>
            <a:r>
              <a:rPr lang="en-US" sz="1400" b="1" dirty="0">
                <a:sym typeface="Wingdings 2" panose="05020102010507070707" pitchFamily="18" charset="2"/>
              </a:rPr>
              <a:t></a:t>
            </a:r>
            <a:r>
              <a:rPr lang="en-US" sz="1400" b="1" dirty="0"/>
              <a:t> SC25 AI4S Workshop </a:t>
            </a:r>
            <a:r>
              <a:rPr lang="en-US" sz="1400" b="1" dirty="0">
                <a:sym typeface="Wingdings 2" panose="05020102010507070707" pitchFamily="18" charset="2"/>
              </a:rPr>
              <a:t></a:t>
            </a:r>
            <a:r>
              <a:rPr lang="en-US" sz="1400" b="1" dirty="0"/>
              <a:t> St. Louis, MO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944ADC2-4BBE-A04E-9F43-2E4E7BE0DB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457200" y="4414376"/>
            <a:ext cx="2597150" cy="203083"/>
          </a:xfrm>
        </p:spPr>
        <p:txBody>
          <a:bodyPr>
            <a:normAutofit lnSpcReduction="10000"/>
          </a:bodyPr>
          <a:lstStyle/>
          <a:p>
            <a:r>
              <a:rPr lang="en-US" sz="1400" b="1">
                <a:solidFill>
                  <a:schemeClr val="bg1"/>
                </a:solidFill>
                <a:latin typeface="Source Sans Pro" panose="020B0503030403020204" pitchFamily="34" charset="0"/>
              </a:rPr>
              <a:t>LA-UR-25-31047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4" name="Subtitle 33">
            <a:extLst>
              <a:ext uri="{FF2B5EF4-FFF2-40B4-BE49-F238E27FC236}">
                <a16:creationId xmlns:a16="http://schemas.microsoft.com/office/drawing/2014/main" id="{33093A48-0C9C-3264-A95D-F893FB63C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829586" y="2192816"/>
            <a:ext cx="7217166" cy="663664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+mj-lt"/>
              </a:rPr>
              <a:t>Leslie Horace</a:t>
            </a:r>
            <a:r>
              <a:rPr lang="en-US" sz="2800" baseline="30000" dirty="0">
                <a:latin typeface="+mj-lt"/>
              </a:rPr>
              <a:t>∗</a:t>
            </a:r>
            <a:r>
              <a:rPr lang="en-US" sz="2400" dirty="0">
                <a:latin typeface="+mj-lt"/>
              </a:rPr>
              <a:t>, Christin Whitton</a:t>
            </a:r>
            <a:r>
              <a:rPr lang="en-US" sz="2400" baseline="30000" dirty="0">
                <a:latin typeface="+mj-lt"/>
              </a:rPr>
              <a:t>†</a:t>
            </a:r>
            <a:r>
              <a:rPr lang="en-US" sz="2400" dirty="0">
                <a:latin typeface="+mj-lt"/>
              </a:rPr>
              <a:t>, Vanessa Job</a:t>
            </a:r>
            <a:r>
              <a:rPr lang="en-US" sz="2400" baseline="30000" dirty="0">
                <a:latin typeface="+mj-lt"/>
              </a:rPr>
              <a:t>†</a:t>
            </a:r>
            <a:r>
              <a:rPr lang="en-US" sz="2400" dirty="0">
                <a:latin typeface="+mj-lt"/>
              </a:rPr>
              <a:t>, </a:t>
            </a:r>
          </a:p>
          <a:p>
            <a:pPr algn="ctr"/>
            <a:r>
              <a:rPr lang="en-US" sz="2400" dirty="0">
                <a:latin typeface="+mj-lt"/>
              </a:rPr>
              <a:t>William Jones</a:t>
            </a:r>
            <a:r>
              <a:rPr lang="en-US" sz="2400" baseline="30000" dirty="0">
                <a:latin typeface="+mj-lt"/>
              </a:rPr>
              <a:t>‡</a:t>
            </a:r>
            <a:r>
              <a:rPr lang="en-US" sz="2400" dirty="0">
                <a:latin typeface="+mj-lt"/>
              </a:rPr>
              <a:t>, Nathan DeBardeleben</a:t>
            </a:r>
            <a:r>
              <a:rPr lang="en-US" sz="2400" baseline="30000" dirty="0">
                <a:latin typeface="+mj-lt"/>
              </a:rPr>
              <a:t>†</a:t>
            </a:r>
            <a:endParaRPr lang="en-US" sz="2400" dirty="0">
              <a:latin typeface="+mj-lt"/>
            </a:endParaRPr>
          </a:p>
        </p:txBody>
      </p:sp>
      <p:sp>
        <p:nvSpPr>
          <p:cNvPr id="13" name="Subtitle 14">
            <a:extLst>
              <a:ext uri="{FF2B5EF4-FFF2-40B4-BE49-F238E27FC236}">
                <a16:creationId xmlns:a16="http://schemas.microsoft.com/office/drawing/2014/main" id="{2B8869AA-C1B8-0F08-45F7-8C57C7670E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2755" y="3146582"/>
            <a:ext cx="8680862" cy="745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Source Sans Pro Semibold" panose="020B0503030403020204" pitchFamily="34" charset="0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tabLst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aseline="30000" dirty="0">
                <a:latin typeface="+mn-lt"/>
              </a:rPr>
              <a:t>∗</a:t>
            </a:r>
            <a:r>
              <a:rPr lang="en-US" dirty="0">
                <a:latin typeface="+mn-lt"/>
              </a:rPr>
              <a:t>College of Computing, Georgia Institute of Technology, Atlanta, GA, USA</a:t>
            </a:r>
          </a:p>
          <a:p>
            <a:pPr algn="ctr"/>
            <a:r>
              <a:rPr lang="en-US" baseline="30000" dirty="0"/>
              <a:t>†</a:t>
            </a:r>
            <a:r>
              <a:rPr lang="en-US" dirty="0"/>
              <a:t>High Performance Computing Design, Los Alamos National Laboratory, Los Alamos, NM, USA</a:t>
            </a:r>
          </a:p>
          <a:p>
            <a:pPr algn="ctr"/>
            <a:r>
              <a:rPr lang="en-US" baseline="30000" dirty="0"/>
              <a:t>‡</a:t>
            </a:r>
            <a:r>
              <a:rPr lang="en-US" dirty="0"/>
              <a:t>Department of Computing Sciences, Coastal Carolina University, Conway, SC, USA</a:t>
            </a:r>
          </a:p>
          <a:p>
            <a:pPr algn="ctr"/>
            <a:endParaRPr lang="en-US" dirty="0"/>
          </a:p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362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771D-310E-F7F0-8E8C-76D5D15D6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D7149-9066-A5AD-8963-A892B9CFB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 Motivation</a:t>
            </a:r>
          </a:p>
          <a:p>
            <a:r>
              <a:rPr lang="en-US" dirty="0"/>
              <a:t> Case Studies </a:t>
            </a:r>
          </a:p>
          <a:p>
            <a:r>
              <a:rPr lang="en-US" dirty="0"/>
              <a:t> Model Specification</a:t>
            </a:r>
          </a:p>
          <a:p>
            <a:r>
              <a:rPr lang="en-US" dirty="0"/>
              <a:t> Training and Inference</a:t>
            </a:r>
          </a:p>
          <a:p>
            <a:r>
              <a:rPr lang="en-US" dirty="0"/>
              <a:t> Experimental Setup</a:t>
            </a:r>
          </a:p>
          <a:p>
            <a:r>
              <a:rPr lang="en-US" dirty="0"/>
              <a:t> Model Performance</a:t>
            </a:r>
          </a:p>
          <a:p>
            <a:r>
              <a:rPr lang="en-US" dirty="0"/>
              <a:t> Generated Results</a:t>
            </a:r>
          </a:p>
          <a:p>
            <a:r>
              <a:rPr lang="en-US" dirty="0"/>
              <a:t> Conclusions and Next Steps</a:t>
            </a:r>
          </a:p>
          <a:p>
            <a:r>
              <a:rPr lang="en-US" dirty="0"/>
              <a:t> Contact Information</a:t>
            </a:r>
          </a:p>
          <a:p>
            <a:pPr marL="1111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26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99F5E0-4A3A-E569-E731-19D80FB1E7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Motivation &amp;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3E5CE-E19A-DC69-7B80-701A83D3B3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557830" y="1181838"/>
            <a:ext cx="7875087" cy="117052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Scientific modeling involves solving for outputs from a set of initial conditions.</a:t>
            </a:r>
          </a:p>
          <a:p>
            <a:pPr marL="0" indent="0" algn="ctr">
              <a:buNone/>
            </a:pPr>
            <a:r>
              <a:rPr lang="en-US" dirty="0"/>
              <a:t>It is often desirable to know </a:t>
            </a:r>
            <a:r>
              <a:rPr lang="en-US" b="1" i="1" dirty="0"/>
              <a:t>what</a:t>
            </a:r>
            <a:r>
              <a:rPr lang="en-US" dirty="0"/>
              <a:t> initial conditions lead to a specific output?</a:t>
            </a:r>
          </a:p>
          <a:p>
            <a:pPr marL="0" indent="0" algn="ctr">
              <a:buNone/>
            </a:pPr>
            <a:r>
              <a:rPr lang="en-US" dirty="0"/>
              <a:t>This presents a difficult combinatorial, optimization problem: </a:t>
            </a:r>
          </a:p>
          <a:p>
            <a:pPr marL="0" indent="0" algn="ctr">
              <a:buNone/>
            </a:pPr>
            <a:endParaRPr lang="en-US" dirty="0">
              <a:solidFill>
                <a:srgbClr val="1A70B8"/>
              </a:solidFill>
            </a:endParaRPr>
          </a:p>
          <a:p>
            <a:endParaRPr lang="en-US" dirty="0">
              <a:solidFill>
                <a:srgbClr val="1A70B8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90DC6FA-58C6-2033-7F32-42DF48A7F7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7830" y="2996929"/>
            <a:ext cx="7875087" cy="57481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Our goal was to develop a machine learning surrogate model that generates </a:t>
            </a:r>
            <a:r>
              <a:rPr lang="en-US" b="1" i="1" dirty="0"/>
              <a:t>N</a:t>
            </a:r>
            <a:r>
              <a:rPr lang="en-US" b="1" dirty="0"/>
              <a:t> </a:t>
            </a:r>
            <a:r>
              <a:rPr lang="en-US" dirty="0"/>
              <a:t>sets of initial conditions that reproduce a desired simulation output.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2C66C-AEF2-3AD6-2C7F-471CC2F5A3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0048" y="2390786"/>
            <a:ext cx="696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1A70B8"/>
                </a:solidFill>
              </a:rPr>
              <a:t>Given an output, what distinct sets of initial conditions produce it?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5D2D8-3DCA-3CA7-9BA2-338DFE92B48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8548" y="3724523"/>
            <a:ext cx="547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AA64"/>
                </a:solidFill>
              </a:rPr>
              <a:t>Solving a generative, many to one, inverse problem.</a:t>
            </a:r>
          </a:p>
        </p:txBody>
      </p:sp>
    </p:spTree>
    <p:extLst>
      <p:ext uri="{BB962C8B-B14F-4D97-AF65-F5344CB8AC3E}">
        <p14:creationId xmlns:p14="http://schemas.microsoft.com/office/powerpoint/2010/main" val="22386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7829C-8AFD-1B98-2991-9FAF981A2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Electrostatic Potential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7AD7A8A-17F2-2F45-3B23-A00380FDC3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19"/>
              </p:nvPr>
            </p:nvSpPr>
            <p:spPr>
              <a:xfrm>
                <a:off x="382658" y="849673"/>
                <a:ext cx="4114797" cy="3103295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Poisson’s discrete equation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Model Inputs &amp; Output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Input X</a:t>
                </a:r>
                <a:r>
                  <a:rPr lang="en-US" baseline="-25000" dirty="0"/>
                  <a:t>1</a:t>
                </a:r>
                <a:r>
                  <a:rPr lang="en-US" dirty="0"/>
                  <a:t>: Charge density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Input X</a:t>
                </a:r>
                <a:r>
                  <a:rPr lang="en-US" baseline="-25000" dirty="0"/>
                  <a:t>2</a:t>
                </a:r>
                <a:r>
                  <a:rPr lang="en-US" dirty="0"/>
                  <a:t>: Relative permittivity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Output Y: Intermediate potential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l-GR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l-GR" baseline="30000" dirty="0">
                        <a:ea typeface="Cambria Math" panose="02040503050406030204" pitchFamily="18" charset="0"/>
                      </a:rPr>
                      <m:t>=</m:t>
                    </m:r>
                    <m:r>
                      <a:rPr lang="en-US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  <a:p>
                <a:pPr>
                  <a:spcAft>
                    <a:spcPts val="300"/>
                  </a:spcAft>
                </a:pPr>
                <a:r>
                  <a:rPr lang="en-US" dirty="0"/>
                  <a:t>Dataset of 1k simulated records 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Train: 70% (700), batch size = 25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Val: 20% (200), batch size = 25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dirty="0"/>
                  <a:t>Test: 10% (100), batch size = 1</a:t>
                </a:r>
              </a:p>
              <a:p>
                <a:pPr marL="230187" lvl="1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7AD7A8A-17F2-2F45-3B23-A00380FDC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82658" y="849673"/>
                <a:ext cx="4114797" cy="3103295"/>
              </a:xfrm>
              <a:blipFill>
                <a:blip r:embed="rId2"/>
                <a:stretch>
                  <a:fillRect l="-3259" t="-2554" b="-9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D1B9ED5C-7BB9-D3A1-251F-803C4B0D3A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853" t="-5977" b="-6399"/>
          <a:stretch>
            <a:fillRect/>
          </a:stretch>
        </p:blipFill>
        <p:spPr>
          <a:xfrm>
            <a:off x="4646542" y="122513"/>
            <a:ext cx="4429125" cy="4293279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32D4EE-1B8A-D9FB-317B-CF78D79511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4691266" y="4259814"/>
            <a:ext cx="4190592" cy="4625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A197E"/>
                </a:solidFill>
              </a:rPr>
              <a:t>Dataset Link: </a:t>
            </a:r>
          </a:p>
          <a:p>
            <a:r>
              <a:rPr lang="en-US" dirty="0">
                <a:solidFill>
                  <a:srgbClr val="0A197E"/>
                </a:solidFill>
                <a:highlight>
                  <a:srgbClr val="FFFF00"/>
                </a:highlight>
              </a:rPr>
              <a:t>https://oceans11.lanl.gov/electrostaticEquations/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AAE488-0B69-8E1B-DED7-6FCD6722C25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2141" y="1136181"/>
                <a:ext cx="4429125" cy="6124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6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l-GR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AAE488-0B69-8E1B-DED7-6FCD6722C25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41" y="1136181"/>
                <a:ext cx="4429125" cy="6124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090CC6F-F054-50C8-F7FC-F254E2F5E8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91266" y="496427"/>
            <a:ext cx="1609599" cy="3688084"/>
          </a:xfrm>
          <a:prstGeom prst="rect">
            <a:avLst/>
          </a:prstGeom>
          <a:noFill/>
          <a:ln w="28575">
            <a:solidFill>
              <a:srgbClr val="00AA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B02A9-F045-E0AF-3405-48B41839C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29350" y="496427"/>
            <a:ext cx="1435716" cy="3688084"/>
          </a:xfrm>
          <a:prstGeom prst="rect">
            <a:avLst/>
          </a:prstGeom>
          <a:noFill/>
          <a:ln w="28575">
            <a:solidFill>
              <a:srgbClr val="00AA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754AB-214F-1572-604A-9A6FC9ACB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0000" y="496427"/>
            <a:ext cx="1455666" cy="3688084"/>
          </a:xfrm>
          <a:prstGeom prst="rect">
            <a:avLst/>
          </a:prstGeom>
          <a:noFill/>
          <a:ln w="28575">
            <a:solidFill>
              <a:srgbClr val="00AA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1F0E6-CF97-DAE4-E6E4-CC9ADF52CA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8115" y="4262438"/>
            <a:ext cx="37988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i="1" baseline="30000" dirty="0">
                <a:solidFill>
                  <a:srgbClr val="0070C1"/>
                </a:solidFill>
              </a:rPr>
              <a:t>Note: Standardized images on the right show the final timestep instead of t=10 for visual clarity.</a:t>
            </a:r>
          </a:p>
        </p:txBody>
      </p:sp>
    </p:spTree>
    <p:extLst>
      <p:ext uri="{BB962C8B-B14F-4D97-AF65-F5344CB8AC3E}">
        <p14:creationId xmlns:p14="http://schemas.microsoft.com/office/powerpoint/2010/main" val="24765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4" grpId="0"/>
      <p:bldP spid="2" grpId="0" animBg="1"/>
      <p:bldP spid="2" grpId="1" animBg="1"/>
      <p:bldP spid="4" grpId="0" animBg="1"/>
      <p:bldP spid="4" grpId="1" animBg="1"/>
      <p:bldP spid="10" grpId="0" animBg="1"/>
      <p:bldP spid="10" grpId="1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DBC59-5377-4857-F9DD-D426C20A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DC91-BDF4-1015-3330-048D683061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Heat Diffusion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9A68AE6-5185-EE52-A127-0F1FD348E96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19"/>
              </p:nvPr>
            </p:nvSpPr>
            <p:spPr>
              <a:xfrm>
                <a:off x="295124" y="1032952"/>
                <a:ext cx="4152385" cy="3451961"/>
              </a:xfrm>
            </p:spPr>
            <p:txBody>
              <a:bodyPr/>
              <a:lstStyle/>
              <a:p>
                <a:pPr>
                  <a:spcAft>
                    <a:spcPts val="600"/>
                  </a:spcAft>
                </a:pPr>
                <a:r>
                  <a:rPr lang="en-US" dirty="0"/>
                  <a:t>Finite difference stencil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Model Inputs &amp; Output</a:t>
                </a:r>
              </a:p>
              <a:p>
                <a:pPr lvl="1"/>
                <a:r>
                  <a:rPr lang="en-US" dirty="0"/>
                  <a:t>Input X</a:t>
                </a:r>
                <a:r>
                  <a:rPr lang="en-US" baseline="-25000" dirty="0"/>
                  <a:t>1</a:t>
                </a:r>
                <a:r>
                  <a:rPr lang="en-US" dirty="0"/>
                  <a:t>: Diffusion coefficients 𝛼 </a:t>
                </a:r>
              </a:p>
              <a:p>
                <a:pPr lvl="1"/>
                <a:r>
                  <a:rPr lang="en-US" dirty="0"/>
                  <a:t>Input X</a:t>
                </a:r>
                <a:r>
                  <a:rPr lang="en-US" baseline="-25000" dirty="0"/>
                  <a:t>2</a:t>
                </a:r>
                <a:r>
                  <a:rPr lang="en-US" dirty="0"/>
                  <a:t>: Initial temp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 Y: Final temp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US" dirty="0"/>
                  <a:t> at steady state</a:t>
                </a:r>
              </a:p>
              <a:p>
                <a:r>
                  <a:rPr lang="en-US" dirty="0"/>
                  <a:t>Dataset of 1k simulated records </a:t>
                </a:r>
              </a:p>
              <a:p>
                <a:pPr lvl="1"/>
                <a:r>
                  <a:rPr lang="en-US" dirty="0"/>
                  <a:t>Train: 80% (800), batch size = 25</a:t>
                </a:r>
              </a:p>
              <a:p>
                <a:pPr lvl="1"/>
                <a:r>
                  <a:rPr lang="en-US" dirty="0"/>
                  <a:t>Val: 15% (150), batch size = 25</a:t>
                </a:r>
              </a:p>
              <a:p>
                <a:pPr lvl="1"/>
                <a:r>
                  <a:rPr lang="en-US" dirty="0"/>
                  <a:t>Test: 5% (50), batch size = 1</a:t>
                </a: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F9A68AE6-5185-EE52-A127-0F1FD348E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295124" y="1032952"/>
                <a:ext cx="4152385" cy="3451961"/>
              </a:xfrm>
              <a:blipFill>
                <a:blip r:embed="rId3"/>
                <a:stretch>
                  <a:fillRect l="-3079" t="-2293" b="-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53F441E-8CD6-AF83-2830-6EEEBA7AD8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674" r="-674"/>
          <a:stretch>
            <a:fillRect/>
          </a:stretch>
        </p:blipFill>
        <p:spPr>
          <a:xfrm>
            <a:off x="4535861" y="289920"/>
            <a:ext cx="4429125" cy="3853194"/>
          </a:xfr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085FCCB-BC26-4179-1B0C-167DD5BA84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52272" y="4223738"/>
            <a:ext cx="3554508" cy="4625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1" i="0" kern="1200">
                <a:solidFill>
                  <a:srgbClr val="FF91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A197E"/>
                </a:solidFill>
              </a:rPr>
              <a:t>Dataset Link:  </a:t>
            </a:r>
            <a:r>
              <a:rPr lang="en-US" dirty="0">
                <a:solidFill>
                  <a:srgbClr val="0A197E"/>
                </a:solidFill>
                <a:highlight>
                  <a:srgbClr val="FFFF00"/>
                </a:highlight>
              </a:rPr>
              <a:t>https://oceans11.lanl.gov/heatEquations/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473635-2E54-B97B-D2CA-F008AA93B06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5124" y="1351761"/>
                <a:ext cx="4041855" cy="829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l-GR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+1,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l-GR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l-GR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l-GR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sSubSup>
                        <m:sSubSupPr>
                          <m:ctrlPr>
                            <a:rPr lang="el-GR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b="0" i="1" dirty="0">
                  <a:ea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l-GR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l-GR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  <m:r>
                        <a:rPr lang="en-US" sz="1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⋅∆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l-GR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1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F473635-2E54-B97B-D2CA-F008AA93B06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4" y="1351761"/>
                <a:ext cx="4041855" cy="829779"/>
              </a:xfrm>
              <a:prstGeom prst="rect">
                <a:avLst/>
              </a:prstGeom>
              <a:blipFill>
                <a:blip r:embed="rId6"/>
                <a:stretch>
                  <a:fillRect l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DC2B0D9-F6FF-8605-E8E7-D2A6FEA7B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86762" y="457200"/>
            <a:ext cx="1694837" cy="3685914"/>
          </a:xfrm>
          <a:prstGeom prst="rect">
            <a:avLst/>
          </a:prstGeom>
          <a:noFill/>
          <a:ln w="28575">
            <a:solidFill>
              <a:srgbClr val="FF912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C5AC75-3288-401A-4C16-AE6897E0C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15988" y="457200"/>
            <a:ext cx="1509008" cy="3685914"/>
          </a:xfrm>
          <a:prstGeom prst="rect">
            <a:avLst/>
          </a:prstGeom>
          <a:noFill/>
          <a:ln w="28575">
            <a:solidFill>
              <a:srgbClr val="FF912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C9514-5960-FEA1-410F-C10206B06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69993" y="457200"/>
            <a:ext cx="1444091" cy="3685914"/>
          </a:xfrm>
          <a:prstGeom prst="rect">
            <a:avLst/>
          </a:prstGeom>
          <a:noFill/>
          <a:ln w="28575">
            <a:solidFill>
              <a:srgbClr val="FF912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9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8" grpId="0"/>
      <p:bldP spid="2" grpId="0"/>
      <p:bldP spid="4" grpId="0" animBg="1"/>
      <p:bldP spid="4" grpId="1" animBg="1"/>
      <p:bldP spid="6" grpId="0" animBg="1"/>
      <p:bldP spid="6" grpId="1" animBg="1"/>
      <p:bldP spid="9" grpId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BBF05-4285-821A-2A2F-9499B965D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Dataset Diversity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7998B-83E6-4C76-3DB1-76F29552B2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326571" y="984739"/>
            <a:ext cx="4245429" cy="2758273"/>
          </a:xfrm>
        </p:spPr>
        <p:txBody>
          <a:bodyPr/>
          <a:lstStyle/>
          <a:p>
            <a:r>
              <a:rPr lang="en-US" dirty="0"/>
              <a:t>Sample diversity was quantified for all {X</a:t>
            </a:r>
            <a:r>
              <a:rPr lang="en-US" baseline="-25000" dirty="0"/>
              <a:t>1</a:t>
            </a:r>
            <a:r>
              <a:rPr lang="en-US" dirty="0"/>
              <a:t>​, X</a:t>
            </a:r>
            <a:r>
              <a:rPr lang="en-US" baseline="-25000" dirty="0"/>
              <a:t>2</a:t>
            </a:r>
            <a:r>
              <a:rPr lang="en-US" dirty="0"/>
              <a:t>​, Y} within the same set</a:t>
            </a:r>
          </a:p>
          <a:p>
            <a:r>
              <a:rPr lang="en-US" dirty="0"/>
              <a:t>Perceptual differences are measured via 1-SSIM and </a:t>
            </a:r>
            <a:r>
              <a:rPr lang="en-US" dirty="0" err="1"/>
              <a:t>pHash</a:t>
            </a:r>
            <a:r>
              <a:rPr lang="en-US" dirty="0"/>
              <a:t> distances</a:t>
            </a:r>
          </a:p>
          <a:p>
            <a:r>
              <a:rPr lang="en-US" dirty="0"/>
              <a:t>The high metric values show good variability between samples</a:t>
            </a:r>
          </a:p>
          <a:p>
            <a:r>
              <a:rPr lang="en-US" dirty="0"/>
              <a:t>Electrostatic Output Y was the least diverse set, but this is explainable as it represents only 10 simulated timesteps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4D5A7C9-9007-F0B7-1266-DA2698D5CB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621" b="-10621"/>
          <a:stretch>
            <a:fillRect/>
          </a:stretch>
        </p:blipFill>
        <p:spPr>
          <a:xfrm>
            <a:off x="4758883" y="0"/>
            <a:ext cx="4297099" cy="5143500"/>
          </a:xfrm>
        </p:spPr>
      </p:pic>
    </p:spTree>
    <p:extLst>
      <p:ext uri="{BB962C8B-B14F-4D97-AF65-F5344CB8AC3E}">
        <p14:creationId xmlns:p14="http://schemas.microsoft.com/office/powerpoint/2010/main" val="262783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D8CA3-C0A8-CE2A-2F58-16821F252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Conditional Normalizing Flow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37A27B4-F693-EA12-EC09-549C926F923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19"/>
              </p:nvPr>
            </p:nvSpPr>
            <p:spPr>
              <a:xfrm>
                <a:off x="457200" y="986469"/>
                <a:ext cx="8364971" cy="1387450"/>
              </a:xfrm>
            </p:spPr>
            <p:txBody>
              <a:bodyPr/>
              <a:lstStyle/>
              <a:p>
                <a:r>
                  <a:rPr lang="en-US" dirty="0">
                    <a:latin typeface="+mn-lt"/>
                  </a:rPr>
                  <a:t>Learns the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sepChr m:val="∣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from base density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b="0" i="0" baseline="-25000" dirty="0" smtClean="0"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/>
                  <a:t>Primary objective is minimizing the conditional </a:t>
                </a:r>
                <a:r>
                  <a:rPr lang="en-US" dirty="0">
                    <a:solidFill>
                      <a:srgbClr val="1A70B8"/>
                    </a:solidFill>
                  </a:rPr>
                  <a:t>negative log likelihood </a:t>
                </a:r>
                <a:endParaRPr lang="en-US" dirty="0">
                  <a:solidFill>
                    <a:srgbClr val="1A70B8"/>
                  </a:solidFill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Hybrid training </a:t>
                </a:r>
                <a:r>
                  <a:rPr lang="en-US" dirty="0"/>
                  <a:t>loss</a:t>
                </a:r>
                <a:r>
                  <a:rPr lang="en-US" dirty="0">
                    <a:latin typeface="+mn-lt"/>
                  </a:rPr>
                  <a:t> </a:t>
                </a:r>
                <a:r>
                  <a:rPr lang="en-US" dirty="0"/>
                  <a:t>penalizes information loss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latin typeface="+mn-lt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lang="en-US" b="0" dirty="0">
                  <a:latin typeface="+mn-lt"/>
                </a:endParaRPr>
              </a:p>
              <a:p>
                <a:r>
                  <a:rPr lang="en-US" dirty="0"/>
                  <a:t>Testing loss measures error between solved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and the original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b="0" i="0" dirty="0"/>
              </a:p>
              <a:p>
                <a:endParaRPr lang="en-US" b="0" i="0" dirty="0"/>
              </a:p>
              <a:p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37A27B4-F693-EA12-EC09-549C926F9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457200" y="986469"/>
                <a:ext cx="8364971" cy="1387450"/>
              </a:xfrm>
              <a:blipFill>
                <a:blip r:embed="rId2"/>
                <a:stretch>
                  <a:fillRect l="-1531" t="-5727" b="-6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8DEAA29-BA81-4B93-BF39-EAB1148592F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161308" y="2495008"/>
            <a:ext cx="0" cy="20969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A154FECD-94CC-2A0E-4FC7-944D075AB6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68076" y="2494188"/>
            <a:ext cx="1589059" cy="23275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1" i="0" kern="1200">
                <a:solidFill>
                  <a:srgbClr val="FF91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A197E"/>
                </a:solidFill>
              </a:rPr>
              <a:t>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3">
                <a:extLst>
                  <a:ext uri="{FF2B5EF4-FFF2-40B4-BE49-F238E27FC236}">
                    <a16:creationId xmlns:a16="http://schemas.microsoft.com/office/drawing/2014/main" id="{F5DB0C30-29A4-6070-58AA-4AF0DAD75EB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7200" y="2857536"/>
                <a:ext cx="3549224" cy="1753237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182880" indent="-182880" algn="l" defTabSz="6858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tabLst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60375" indent="-230188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−"/>
                  <a:tabLst/>
                  <a:defRPr sz="16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688975" indent="-231775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914400" indent="-227013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−"/>
                  <a:defRPr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dirty="0">
                    <a:latin typeface="+mn-lt"/>
                  </a:rPr>
                  <a:t>Training: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𝓏</m:t>
                        </m:r>
                      </m:sub>
                    </m:sSub>
                    <m:r>
                      <a:rPr lang="en-US" i="1" dirty="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1" dirty="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  <m:t>𝓎</m:t>
                        </m:r>
                      </m:sub>
                    </m:sSub>
                    <m:r>
                      <a:rPr lang="en-US" i="1" dirty="0">
                        <a:solidFill>
                          <a:srgbClr val="FF912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i="1" dirty="0">
                        <a:solidFill>
                          <a:srgbClr val="FF9129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>
                        <a:solidFill>
                          <a:srgbClr val="00AA6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i="1" dirty="0">
                            <a:solidFill>
                              <a:srgbClr val="00AA6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400" dirty="0" smtClean="0">
                        <a:latin typeface="Cambria Math" panose="02040503050406030204" pitchFamily="18" charset="0"/>
                        <a:cs typeface="+mn-cs"/>
                      </a:rPr>
                      <m:t>: </m:t>
                    </m:r>
                    <m:r>
                      <m:rPr>
                        <m:nor/>
                      </m:rPr>
                      <a:rPr lang="en-US" sz="1400" i="0" dirty="0">
                        <a:latin typeface="+mn-lt"/>
                        <a:cs typeface="+mn-cs"/>
                      </a:rPr>
                      <m:t>ground</m:t>
                    </m:r>
                    <m:r>
                      <m:rPr>
                        <m:nor/>
                      </m:rPr>
                      <a:rPr lang="en-US" sz="1400" i="0" dirty="0">
                        <a:latin typeface="+mn-lt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>
                        <a:latin typeface="+mn-lt"/>
                        <a:cs typeface="+mn-cs"/>
                      </a:rPr>
                      <m:t>truth</m:t>
                    </m:r>
                  </m:oMath>
                </a14:m>
                <a:r>
                  <a:rPr lang="en-US" sz="1400" dirty="0">
                    <a:latin typeface="+mn-lt"/>
                    <a:cs typeface="+mn-cs"/>
                  </a:rPr>
                  <a:t>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  <a:cs typeface="+mn-cs"/>
                      </a:rPr>
                      <m:t>: 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linear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projection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of</m:t>
                    </m:r>
                    <m:r>
                      <m:rPr>
                        <m:nor/>
                      </m:rPr>
                      <a:rPr lang="en-US" sz="1400" dirty="0">
                        <a:latin typeface="+mn-lt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  <a:cs typeface="+mn-cs"/>
                      </a:rPr>
                      <m:t>Z</m:t>
                    </m:r>
                  </m:oMath>
                </a14:m>
                <a:endParaRPr lang="en-US" sz="1400" dirty="0">
                  <a:latin typeface="+mn-lt"/>
                  <a:cs typeface="+mn-cs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Validation: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𝓏</m:t>
                        </m:r>
                      </m:sub>
                    </m:sSub>
                    <m:r>
                      <a:rPr lang="en-US" i="1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1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en-US" dirty="0"/>
                  <a:t>Testing:</a:t>
                </a:r>
                <a:r>
                  <a:rPr lang="en-US" dirty="0">
                    <a:solidFill>
                      <a:srgbClr val="FF912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  <m:t>𝓎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solidFill>
                              <a:srgbClr val="FF912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i="1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latin typeface="+mn-lt"/>
                </a:endParaRPr>
              </a:p>
              <a:p>
                <a:pPr marL="277495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 dirty="0">
                          <a:latin typeface="+mn-lt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solved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generated</m:t>
                      </m:r>
                      <m:r>
                        <m:rPr>
                          <m:nor/>
                        </m:rPr>
                        <a:rPr lang="en-US" sz="1400" i="0" dirty="0">
                          <a:latin typeface="+mn-lt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dirty="0">
                          <a:latin typeface="Cambria Math" panose="02040503050406030204" pitchFamily="18" charset="0"/>
                          <a:cs typeface="+mn-cs"/>
                        </a:rPr>
                        <m:t>X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>
                  <a:solidFill>
                    <a:srgbClr val="FF9129"/>
                  </a:solidFill>
                </a:endParaRPr>
              </a:p>
            </p:txBody>
          </p:sp>
        </mc:Choice>
        <mc:Fallback xmlns="">
          <p:sp>
            <p:nvSpPr>
              <p:cNvPr id="11" name="Text Placeholder 3">
                <a:extLst>
                  <a:ext uri="{FF2B5EF4-FFF2-40B4-BE49-F238E27FC236}">
                    <a16:creationId xmlns:a16="http://schemas.microsoft.com/office/drawing/2014/main" id="{F5DB0C30-29A4-6070-58AA-4AF0DAD75EB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857536"/>
                <a:ext cx="3549224" cy="1753237"/>
              </a:xfrm>
              <a:prstGeom prst="rect">
                <a:avLst/>
              </a:prstGeom>
              <a:blipFill>
                <a:blip r:embed="rId3"/>
                <a:stretch>
                  <a:fillRect l="-3952" t="-4181" b="-1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AC15F-6229-9F19-909D-A5BC3DA4ECB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04431" y="2694344"/>
                <a:ext cx="4585346" cy="2021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i="1" dirty="0" smtClean="0">
                              <a:solidFill>
                                <a:srgbClr val="1A70B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i="0" dirty="0">
                              <a:solidFill>
                                <a:srgbClr val="1A70B8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i="0" dirty="0">
                              <a:solidFill>
                                <a:srgbClr val="1A70B8"/>
                              </a:solidFill>
                              <a:latin typeface="Cambria Math" panose="02040503050406030204" pitchFamily="18" charset="0"/>
                            </a:rPr>
                            <m:t>𝓏</m:t>
                          </m:r>
                        </m:sub>
                      </m:sSub>
                      <m:r>
                        <a:rPr lang="en-US" alt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i="0" dirty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en-US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en-US" i="0" dirty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en-US" i="0" dirty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en-US" i="0" dirty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en-US" altLang="en-US" i="0" dirty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en-US" i="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US" dirty="0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en-US" dirty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en-US" dirty="0">
                                                  <a:latin typeface="Cambria Math" panose="02040503050406030204" pitchFamily="18" charset="0"/>
                                                </a:rPr>
                                                <m:t>f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en-US" dirty="0">
                                                  <a:latin typeface="Cambria Math" panose="02040503050406030204" pitchFamily="18" charset="0"/>
                                                </a:rPr>
                                                <m:t>θ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en-US" dirty="0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  <m:r>
                                                <a:rPr lang="en-US" alt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en-US" dirty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en-US" dirty="0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en-US" dirty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rgbClr val="FF912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rgbClr val="FF9129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dirty="0">
                              <a:solidFill>
                                <a:srgbClr val="FF9129"/>
                              </a:solidFill>
                              <a:latin typeface="Cambria Math" panose="02040503050406030204" pitchFamily="18" charset="0"/>
                            </a:rPr>
                            <m:t>𝓎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SmoothL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1 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AA64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AA6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0&lt;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  <a:p>
                <a:pPr lvl="1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1400" dirty="0"/>
                  <a:t>: current step;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1400" b="0" dirty="0" smtClean="0"/>
                      <m:t>: </m:t>
                    </m:r>
                    <m:r>
                      <m:rPr>
                        <m:nor/>
                      </m:rPr>
                      <a:rPr lang="en-US" sz="1400" dirty="0" smtClean="0"/>
                      <m:t>total</m:t>
                    </m:r>
                    <m:r>
                      <m:rPr>
                        <m:nor/>
                      </m:rPr>
                      <a:rPr lang="en-US" sz="1400" dirty="0" smtClean="0"/>
                      <m:t> </m:t>
                    </m:r>
                    <m:r>
                      <m:rPr>
                        <m:nor/>
                      </m:rPr>
                      <a:rPr lang="en-US" sz="1400" dirty="0" smtClean="0"/>
                      <m:t>steps</m:t>
                    </m:r>
                    <m:r>
                      <m:rPr>
                        <m:nor/>
                      </m:rPr>
                      <a:rPr lang="en-US" sz="1400" b="0" i="0" dirty="0" smtClean="0"/>
                      <m:t>;</m:t>
                    </m:r>
                  </m:oMath>
                </a14:m>
                <a:r>
                  <a:rPr lang="en-US" sz="1400" dirty="0">
                    <a:solidFill>
                      <a:srgbClr val="FF912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sz="1400" dirty="0"/>
                      <m:t>:</m:t>
                    </m:r>
                    <m:r>
                      <m:rPr>
                        <m:nor/>
                      </m:rPr>
                      <a:rPr lang="en-US" sz="1400" b="0" i="0" dirty="0" smtClean="0"/>
                      <m:t> </m:t>
                    </m:r>
                    <m:r>
                      <m:rPr>
                        <m:nor/>
                      </m:rPr>
                      <a:rPr lang="en-US" sz="1400" b="0" i="0" dirty="0" smtClean="0"/>
                      <m:t>warmup</m:t>
                    </m:r>
                    <m:r>
                      <m:rPr>
                        <m:nor/>
                      </m:rPr>
                      <a:rPr lang="en-US" sz="1400" dirty="0"/>
                      <m:t> </m:t>
                    </m:r>
                    <m:r>
                      <m:rPr>
                        <m:nor/>
                      </m:rPr>
                      <a:rPr lang="en-US" sz="1400" dirty="0"/>
                      <m:t>steps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68AC15F-6229-9F19-909D-A5BC3DA4ECB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31" y="2694344"/>
                <a:ext cx="4585346" cy="2021964"/>
              </a:xfrm>
              <a:prstGeom prst="rect">
                <a:avLst/>
              </a:prstGeom>
              <a:blipFill>
                <a:blip r:embed="rId4"/>
                <a:stretch>
                  <a:fillRect b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2FC2830-D2DF-37CD-FC6B-B0BCF48042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12146" y="2498517"/>
            <a:ext cx="1369916" cy="22843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1" i="0" kern="1200">
                <a:solidFill>
                  <a:srgbClr val="FF91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A197E"/>
                </a:solidFill>
              </a:rPr>
              <a:t>Loss Terms</a:t>
            </a:r>
          </a:p>
        </p:txBody>
      </p:sp>
    </p:spTree>
    <p:extLst>
      <p:ext uri="{BB962C8B-B14F-4D97-AF65-F5344CB8AC3E}">
        <p14:creationId xmlns:p14="http://schemas.microsoft.com/office/powerpoint/2010/main" val="426982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0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FB788-0DAB-8975-1464-637D5959E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Block Architecture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EC1EE06-07CA-C23B-A260-59050F2AAD1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19"/>
              </p:nvPr>
            </p:nvSpPr>
            <p:spPr>
              <a:xfrm>
                <a:off x="457201" y="1143000"/>
                <a:ext cx="4603783" cy="3195638"/>
              </a:xfrm>
            </p:spPr>
            <p:txBody>
              <a:bodyPr/>
              <a:lstStyle/>
              <a:p>
                <a:r>
                  <a:rPr lang="en-US" dirty="0"/>
                  <a:t>Conditional affine coupling layers for bijective mapping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b="0" dirty="0"/>
                  <a:t>given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Invertible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1×1</m:t>
                    </m:r>
                  </m:oMath>
                </a14:m>
                <a:r>
                  <a:rPr lang="en-US" dirty="0"/>
                  <a:t> convolutions for channel mixing permutations </a:t>
                </a:r>
              </a:p>
              <a:p>
                <a:r>
                  <a:rPr lang="en-US" dirty="0"/>
                  <a:t>LU factorization for stable inverses and efficient log-determinant computations</a:t>
                </a:r>
              </a:p>
              <a:p>
                <a:r>
                  <a:rPr lang="en-US" dirty="0"/>
                  <a:t>Per-block conditioning carries over information about Y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EC1EE06-07CA-C23B-A260-59050F2AA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457201" y="1143000"/>
                <a:ext cx="4603783" cy="3195638"/>
              </a:xfrm>
              <a:blipFill>
                <a:blip r:embed="rId2"/>
                <a:stretch>
                  <a:fillRect l="-2781" t="-2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0D76B22B-56EA-9185-0B94-357124C30D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3"/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5408" b="-5408"/>
          <a:stretch>
            <a:fillRect/>
          </a:stretch>
        </p:blipFill>
        <p:spPr>
          <a:xfrm>
            <a:off x="5376863" y="0"/>
            <a:ext cx="3767137" cy="5143500"/>
          </a:xfrm>
        </p:spPr>
      </p:pic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070E8434-EE0C-480A-4597-50EC3BFE2B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199" y="4450531"/>
            <a:ext cx="4603783" cy="18288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1" i="0" kern="1200">
                <a:solidFill>
                  <a:srgbClr val="FF91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70B8"/>
                </a:solidFill>
              </a:rPr>
              <a:t>Please refer to the paper for more details.</a:t>
            </a:r>
          </a:p>
        </p:txBody>
      </p:sp>
    </p:spTree>
    <p:extLst>
      <p:ext uri="{BB962C8B-B14F-4D97-AF65-F5344CB8AC3E}">
        <p14:creationId xmlns:p14="http://schemas.microsoft.com/office/powerpoint/2010/main" val="17039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23634-F61C-323A-4299-D55F9D430E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Experiment 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7B6865C-14F2-6EBB-5F1B-161E7FED3F5F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1732009035"/>
                  </p:ext>
                </p:extLst>
              </p:nvPr>
            </p:nvGraphicFramePr>
            <p:xfrm>
              <a:off x="457201" y="1126356"/>
              <a:ext cx="8226054" cy="335280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950746">
                      <a:extLst>
                        <a:ext uri="{9D8B030D-6E8A-4147-A177-3AD203B41FA5}">
                          <a16:colId xmlns:a16="http://schemas.microsoft.com/office/drawing/2014/main" val="2608361671"/>
                        </a:ext>
                      </a:extLst>
                    </a:gridCol>
                    <a:gridCol w="2782914">
                      <a:extLst>
                        <a:ext uri="{9D8B030D-6E8A-4147-A177-3AD203B41FA5}">
                          <a16:colId xmlns:a16="http://schemas.microsoft.com/office/drawing/2014/main" val="971913437"/>
                        </a:ext>
                      </a:extLst>
                    </a:gridCol>
                    <a:gridCol w="2492394">
                      <a:extLst>
                        <a:ext uri="{9D8B030D-6E8A-4147-A177-3AD203B41FA5}">
                          <a16:colId xmlns:a16="http://schemas.microsoft.com/office/drawing/2014/main" val="64223809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Hyperparameter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Electrostatic Potential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Heat diffusion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9594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Block networks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9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6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1254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Hidden layers (per block)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4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3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94288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Neurons (per layer)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128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256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62954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600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60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dirty="0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oMath>
                          </a14:m>
                          <a:r>
                            <a:rPr lang="en-US" sz="1600" dirty="0"/>
                            <a:t>decay </a:t>
                          </a:r>
                          <a:r>
                            <a:rPr lang="en-US" sz="1600" baseline="0" dirty="0"/>
                            <a:t>epochs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b="0" u="none" strike="noStrike" kern="1200" baseline="0" dirty="0">
                              <a:solidFill>
                                <a:schemeClr val="dk1"/>
                              </a:solidFill>
                            </a:rPr>
                            <a:t>200 (20 warmup)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b="0" u="none" strike="noStrike" kern="1200" baseline="0" dirty="0">
                              <a:solidFill>
                                <a:schemeClr val="dk1"/>
                              </a:solidFill>
                            </a:rPr>
                            <a:t>250 (25 warmup)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3122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Activation function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Hyperbolic tangent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2730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Optimizer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AdamW</a:t>
                          </a:r>
                          <a:r>
                            <a:rPr lang="en-US" sz="1600" dirty="0"/>
                            <a:t>  (decoupled weight decay)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39134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Learning Rate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1×</m:t>
                                </m:r>
                                <m:sSup>
                                  <m:sSup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dirty="0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9310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</a:rPr>
                            <a:t>Regularizers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</a:rPr>
                            <a:t> 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lang="en-US" sz="1600" baseline="-25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=0.9,</m:t>
                                </m:r>
                                <m:r>
                                  <a:rPr lang="en-US" sz="1600" b="0" dirty="0" smtClean="0">
                                    <a:latin typeface="Cambria Math" panose="02040503050406030204" pitchFamily="18" charset="0"/>
                                  </a:rPr>
                                  <m:t>  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a:rPr lang="en-US" sz="1600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=0.9</m:t>
                                </m:r>
                                <m:r>
                                  <a:rPr lang="en-US" sz="1600" b="0" dirty="0" smtClean="0">
                                    <a:latin typeface="Cambria Math" panose="02040503050406030204" pitchFamily="18" charset="0"/>
                                  </a:rPr>
                                  <m:t>99,  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 smtClean="0"/>
                                  <m:t>weight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dirty="0" smtClean="0"/>
                                  <m:t>decay</m:t>
                                </m:r>
                                <m:r>
                                  <a:rPr lang="en-US" sz="1600" b="0" dirty="0" smtClean="0">
                                    <a:latin typeface="Cambria Math" panose="02040503050406030204" pitchFamily="18" charset="0"/>
                                  </a:rPr>
                                  <m:t>=1×</m:t>
                                </m:r>
                                <m:sSup>
                                  <m:sSup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600" dirty="0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i="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66413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𝛼 generated sample noise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dirty="0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0406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17B6865C-14F2-6EBB-5F1B-161E7FED3F5F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1732009035"/>
                  </p:ext>
                </p:extLst>
              </p:nvPr>
            </p:nvGraphicFramePr>
            <p:xfrm>
              <a:off x="457201" y="1126356"/>
              <a:ext cx="8226054" cy="335280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950746">
                      <a:extLst>
                        <a:ext uri="{9D8B030D-6E8A-4147-A177-3AD203B41FA5}">
                          <a16:colId xmlns:a16="http://schemas.microsoft.com/office/drawing/2014/main" val="2608361671"/>
                        </a:ext>
                      </a:extLst>
                    </a:gridCol>
                    <a:gridCol w="2782914">
                      <a:extLst>
                        <a:ext uri="{9D8B030D-6E8A-4147-A177-3AD203B41FA5}">
                          <a16:colId xmlns:a16="http://schemas.microsoft.com/office/drawing/2014/main" val="971913437"/>
                        </a:ext>
                      </a:extLst>
                    </a:gridCol>
                    <a:gridCol w="2492394">
                      <a:extLst>
                        <a:ext uri="{9D8B030D-6E8A-4147-A177-3AD203B41FA5}">
                          <a16:colId xmlns:a16="http://schemas.microsoft.com/office/drawing/2014/main" val="64223809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Hyperparameter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Electrostatic Potential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u="none" strike="noStrike" kern="1200" baseline="0" dirty="0">
                              <a:solidFill>
                                <a:schemeClr val="bg1"/>
                              </a:solidFill>
                            </a:rPr>
                            <a:t>Heat diffusion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95944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Block networks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9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6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12546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Hidden layers (per block)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4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3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94288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Neurons (per layer)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/>
                            <a:t>128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dirty="0"/>
                            <a:t>256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629545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6429" r="-179339" b="-5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b="0" u="none" strike="noStrike" kern="1200" baseline="0" dirty="0">
                              <a:solidFill>
                                <a:schemeClr val="dk1"/>
                              </a:solidFill>
                            </a:rPr>
                            <a:t>200 (20 warmup)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600" b="0" u="none" strike="noStrike" kern="1200" baseline="0" dirty="0">
                              <a:solidFill>
                                <a:schemeClr val="dk1"/>
                              </a:solidFill>
                            </a:rPr>
                            <a:t>250 (25 warmup)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631224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Activation function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Hyperbolic tangent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227309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Optimizer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/>
                            <a:t>AdamW</a:t>
                          </a:r>
                          <a:r>
                            <a:rPr lang="en-US" sz="1600" dirty="0"/>
                            <a:t>  (decoupled weight decay)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8391340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n-US" sz="1600" dirty="0"/>
                            <a:t>Learning Rate 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889" t="-705455" r="-231" b="-2236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79310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kern="1200" dirty="0" err="1">
                              <a:solidFill>
                                <a:schemeClr val="dk1"/>
                              </a:solidFill>
                            </a:rPr>
                            <a:t>Regularizers</a:t>
                          </a:r>
                          <a:r>
                            <a:rPr lang="en-US" sz="1600" kern="1200" dirty="0">
                              <a:solidFill>
                                <a:schemeClr val="dk1"/>
                              </a:solidFill>
                            </a:rPr>
                            <a:t> </a:t>
                          </a:r>
                          <a:endParaRPr lang="en-US" sz="16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889" t="-805455" r="-231" b="-1236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664136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𝛼 generated sample noise</a:t>
                          </a:r>
                          <a:endParaRPr lang="en-US" sz="1600" dirty="0">
                            <a:latin typeface="+mn-lt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5889" t="-905455" r="-231" b="-236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0406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643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C9A0-91F1-3B28-700F-D45B84B3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EB70-4992-0639-15A7-EC552B80C9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Workflow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5D53F3D-F119-9AA6-006D-83501C5BF9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2" t="10905" r="1975"/>
          <a:stretch>
            <a:fillRect/>
          </a:stretch>
        </p:blipFill>
        <p:spPr>
          <a:xfrm>
            <a:off x="657518" y="982516"/>
            <a:ext cx="7953325" cy="3340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B12E593-4FDF-E573-DD77-A052443ECD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50"/>
              </p:nvPr>
            </p:nvSpPr>
            <p:spPr>
              <a:xfrm>
                <a:off x="457199" y="4450531"/>
                <a:ext cx="8229601" cy="182880"/>
              </a:xfrm>
            </p:spPr>
            <p:txBody>
              <a:bodyPr>
                <a:normAutofit fontScale="92500" lnSpcReduction="10000"/>
              </a:bodyPr>
              <a:lstStyle/>
              <a:p>
                <a:pPr algn="ctr"/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Encodes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  <m:r>
                      <a:rPr lang="en-US" b="0" i="1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>
                        <a:solidFill>
                          <a:srgbClr val="1A70B8"/>
                        </a:solidFill>
                      </a:rPr>
                      <m:t>↦</m:t>
                    </m:r>
                    <m:r>
                      <m:rPr>
                        <m:nor/>
                      </m:rPr>
                      <a:rPr lang="en-US" b="0" i="1">
                        <a:solidFill>
                          <a:srgbClr val="1A70B8"/>
                        </a:solidFill>
                      </a:rPr>
                      <m:t> </m:t>
                    </m:r>
                    <m:r>
                      <a:rPr lang="en-US" b="0" i="1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, transforming prior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b="0" dirty="0">
                    <a:solidFill>
                      <a:srgbClr val="1A70B8"/>
                    </a:solidFill>
                    <a:latin typeface="+mn-lt"/>
                  </a:rPr>
                  <a:t> </a:t>
                </a:r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into conditional distribution</a:t>
                </a:r>
                <a:r>
                  <a:rPr lang="en-US" dirty="0">
                    <a:solidFill>
                      <a:srgbClr val="1A70B8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baseline="-2500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B12E593-4FDF-E573-DD77-A052443EC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50"/>
              </p:nvPr>
            </p:nvSpPr>
            <p:spPr>
              <a:xfrm>
                <a:off x="457199" y="4450531"/>
                <a:ext cx="8229601" cy="182880"/>
              </a:xfrm>
              <a:blipFill>
                <a:blip r:embed="rId4"/>
                <a:stretch>
                  <a:fillRect t="-36667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2734F66-A48D-1BB2-14A1-0070C11C4D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8634" y="920924"/>
            <a:ext cx="6460817" cy="1132809"/>
          </a:xfrm>
          <a:prstGeom prst="rect">
            <a:avLst/>
          </a:prstGeom>
          <a:noFill/>
          <a:ln w="28575">
            <a:solidFill>
              <a:srgbClr val="FF912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F5460-85F9-4297-8038-C612985518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79451" y="920924"/>
            <a:ext cx="1756002" cy="3465652"/>
          </a:xfrm>
          <a:prstGeom prst="rect">
            <a:avLst/>
          </a:prstGeom>
          <a:noFill/>
          <a:ln w="28575">
            <a:solidFill>
              <a:srgbClr val="FF9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49580995-DEAD-4139-939A-DDEFD2914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49376" y="2053732"/>
            <a:ext cx="5930075" cy="2332760"/>
          </a:xfrm>
          <a:prstGeom prst="corner">
            <a:avLst>
              <a:gd name="adj1" fmla="val 58782"/>
              <a:gd name="adj2" fmla="val 137757"/>
            </a:avLst>
          </a:prstGeom>
          <a:noFill/>
          <a:ln w="28575">
            <a:solidFill>
              <a:srgbClr val="FF9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DFA51F9B-3227-472D-006D-6E802BC4E0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 flipV="1">
            <a:off x="949376" y="2449809"/>
            <a:ext cx="7686077" cy="1934400"/>
          </a:xfrm>
          <a:prstGeom prst="corner">
            <a:avLst>
              <a:gd name="adj1" fmla="val 49495"/>
              <a:gd name="adj2" fmla="val 90400"/>
            </a:avLst>
          </a:prstGeom>
          <a:noFill/>
          <a:ln w="28575">
            <a:solidFill>
              <a:srgbClr val="FF91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1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A04F-6618-F894-EEF4-8BE09E5AA4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Workflow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C076E0-3FA4-3905-4297-1990CD5151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38" r="9299" b="4195"/>
          <a:stretch>
            <a:fillRect/>
          </a:stretch>
        </p:blipFill>
        <p:spPr>
          <a:xfrm>
            <a:off x="309797" y="1124712"/>
            <a:ext cx="8464446" cy="323822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1E2EB42D-EF93-8B70-062E-DFB6F16820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50"/>
              </p:nvPr>
            </p:nvSpPr>
            <p:spPr>
              <a:xfrm>
                <a:off x="457199" y="4450531"/>
                <a:ext cx="8229601" cy="182880"/>
              </a:xfrm>
            </p:spPr>
            <p:txBody>
              <a:bodyPr>
                <a:normAutofit fontScale="92500" lnSpcReduction="10000"/>
              </a:bodyPr>
              <a:lstStyle/>
              <a:p>
                <a:pPr algn="ctr"/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Decodes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0" baseline="-25000" dirty="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 from sampled latent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baseline="-25000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aseline="-25000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 and confirms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aseline="-25000" dirty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baseline="-25000" dirty="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 solves to the desired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1A70B8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rgbClr val="1A70B8"/>
                    </a:solidFill>
                    <a:latin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1E2EB42D-EF93-8B70-062E-DFB6F1682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50"/>
              </p:nvPr>
            </p:nvSpPr>
            <p:spPr>
              <a:xfrm>
                <a:off x="457199" y="4450531"/>
                <a:ext cx="8229601" cy="182880"/>
              </a:xfrm>
              <a:blipFill>
                <a:blip r:embed="rId4"/>
                <a:stretch>
                  <a:fillRect t="-36667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9665196-A14F-7FE0-E030-EE22A94895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86613" y="1519002"/>
            <a:ext cx="2247590" cy="1668905"/>
          </a:xfrm>
          <a:prstGeom prst="rect">
            <a:avLst/>
          </a:prstGeom>
          <a:noFill/>
          <a:ln w="28575">
            <a:solidFill>
              <a:srgbClr val="00AA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EC5DE-C3B5-FC7C-A836-B76F8D08B1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9837" y="1124712"/>
            <a:ext cx="6336776" cy="2063196"/>
          </a:xfrm>
          <a:prstGeom prst="rect">
            <a:avLst/>
          </a:prstGeom>
          <a:noFill/>
          <a:ln w="28575">
            <a:solidFill>
              <a:srgbClr val="00AA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93B2CFB0-AB4B-FE88-B9DD-22440F0F69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 flipH="1">
            <a:off x="1161591" y="787130"/>
            <a:ext cx="2660020" cy="4483528"/>
          </a:xfrm>
          <a:prstGeom prst="corner">
            <a:avLst>
              <a:gd name="adj1" fmla="val 75066"/>
              <a:gd name="adj2" fmla="val 43645"/>
            </a:avLst>
          </a:prstGeom>
          <a:noFill/>
          <a:ln w="28575">
            <a:solidFill>
              <a:srgbClr val="00AA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A64"/>
              </a:solidFill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9A2FA9BC-CD85-0714-1B1C-0D33B4B369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3379881" y="-1091384"/>
            <a:ext cx="2843936" cy="8064708"/>
          </a:xfrm>
          <a:prstGeom prst="corner">
            <a:avLst>
              <a:gd name="adj1" fmla="val 79251"/>
              <a:gd name="adj2" fmla="val 41355"/>
            </a:avLst>
          </a:prstGeom>
          <a:noFill/>
          <a:ln w="28575">
            <a:solidFill>
              <a:srgbClr val="00AA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AA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6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2913-B186-B7B0-3923-6B2725DA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7930F-E012-3F25-BFB4-8E08D9DAD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Performance: Electrostatic Potential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5B45E86-267A-E0C0-3336-475F66E320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3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4282" b="-4282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E66CC-826C-DDFA-85A4-A6441FE46B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447728" y="4176188"/>
            <a:ext cx="8248543" cy="3580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model converges at epoch 1900 with validation loss ~5695.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48D73D9-A67E-4E70-AD54-F2DAAD101B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36"/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209" b="-42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7229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6B1B935-342D-82B2-0911-FC71233704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9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95" b="1095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69FA9-FF63-94E8-1C93-1B1B763585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457200" y="4397452"/>
            <a:ext cx="8339621" cy="306705"/>
          </a:xfrm>
        </p:spPr>
        <p:txBody>
          <a:bodyPr>
            <a:normAutofit fontScale="92500"/>
          </a:bodyPr>
          <a:lstStyle/>
          <a:p>
            <a:pPr algn="ctr"/>
            <a:r>
              <a:rPr lang="en-US" dirty="0"/>
              <a:t>Generated 1000 inputs per testing sample with the best trained model state (lowest validation loss).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2F80EE-2D7F-9D42-35EF-A010ED30EA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Samples: Electrostatic Potential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7E9FD306-F958-F405-D9AD-99F7699098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023" b="1023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0B52928-ADD7-46A8-B625-FFDF7F8FFBE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9"/>
          </p:nvPr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8681" b="-8681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947C49BF-34D3-14E9-E165-B00EDA6D4E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1"/>
          </p:nvPr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8681" b="-86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976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A71F-6AE2-BA44-892E-05FABAB7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7BD5-128B-A57D-1A2D-4D4EEFF341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Performance: Heat Diffusion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727C3D5-E58A-A732-9068-ACA6AA0256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3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4282" b="-4282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08AF4-F6D7-42B5-76CD-4D11CBE8B2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/>
          </p:nvPr>
        </p:nvSpPr>
        <p:spPr>
          <a:xfrm>
            <a:off x="447728" y="4140348"/>
            <a:ext cx="8248543" cy="3580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Training is less stable due to outliers/noise in mini-batches but still converges at epoch 2500.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5EB1799-9B65-19FE-DDEA-3EF948076D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36"/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209" b="-42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3892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4B63-EEBD-BBD6-A1B9-C209BB67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5B37755-6154-9073-6F17-58D8DFE3FF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49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9" b="219"/>
          <a:stretch>
            <a:fillRect/>
          </a:stretch>
        </p:blipFill>
        <p:spPr/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2B8030-01C7-72FC-0002-871FB8F836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Generated Analysis: Heat Diffusion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74CF8D79-B88A-89FA-D50D-FA01913868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1"/>
          </p:nvPr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8681" b="-8681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5A64FC68-6B3F-7BDE-D4D7-8B3EE9F979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9"/>
          </p:nvPr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8681" b="-8681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FAB6457E-F80E-E03D-0417-A963580D74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55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146" b="146"/>
          <a:stretch>
            <a:fillRect/>
          </a:stretch>
        </p:blipFill>
        <p:spPr/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4F7E60-80BF-A45B-9A27-48296D4DF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/>
          </p:nvPr>
        </p:nvSpPr>
        <p:spPr>
          <a:xfrm>
            <a:off x="457200" y="4470400"/>
            <a:ext cx="8229600" cy="184150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dirty="0"/>
              <a:t>SSIM distributions of 1000 inputs per testing sample with the best trained model state (lowest validation loss).</a:t>
            </a:r>
          </a:p>
        </p:txBody>
      </p:sp>
    </p:spTree>
    <p:extLst>
      <p:ext uri="{BB962C8B-B14F-4D97-AF65-F5344CB8AC3E}">
        <p14:creationId xmlns:p14="http://schemas.microsoft.com/office/powerpoint/2010/main" val="65614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6BE5D8-9A50-DDA1-3E72-F2B584A61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>
          <a:xfrm>
            <a:off x="1019601" y="1128096"/>
            <a:ext cx="2264776" cy="2723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A70B8"/>
                </a:solidFill>
              </a:rPr>
              <a:t>Metric Descriptions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0B57B-192B-822E-ED88-C41AAB6281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Results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16">
                <a:extLst>
                  <a:ext uri="{FF2B5EF4-FFF2-40B4-BE49-F238E27FC236}">
                    <a16:creationId xmlns:a16="http://schemas.microsoft.com/office/drawing/2014/main" id="{3EBC2107-586C-8ABD-3CF8-A8FE6FF6FD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20"/>
              </p:nvPr>
            </p:nvSpPr>
            <p:spPr>
              <a:xfrm>
                <a:off x="294939" y="1582338"/>
                <a:ext cx="4046343" cy="2075262"/>
              </a:xfrm>
            </p:spPr>
            <p:txBody>
              <a:bodyPr/>
              <a:lstStyle/>
              <a:p>
                <a:r>
                  <a:rPr lang="en-US" dirty="0"/>
                  <a:t>Lowest validation epoch and loss, where the trained model state was saved for inference</a:t>
                </a:r>
              </a:p>
              <a:p>
                <a:r>
                  <a:rPr lang="en-US" dirty="0"/>
                  <a:t>Aggregate testing loss across all </a:t>
                </a:r>
                <a:r>
                  <a:rPr lang="en-US" dirty="0">
                    <a:solidFill>
                      <a:srgbClr val="1A70B8"/>
                    </a:solidFill>
                    <a:latin typeface="Cambria Math" panose="02040503050406030204" pitchFamily="18" charset="0"/>
                    <a:cs typeface="+mn-cs"/>
                  </a:rPr>
                  <a:t>N</a:t>
                </a:r>
                <a:r>
                  <a:rPr lang="en-US" sz="1600" dirty="0">
                    <a:solidFill>
                      <a:srgbClr val="1A70B8"/>
                    </a:solidFill>
                    <a:latin typeface="Cambria Math" panose="02040503050406030204" pitchFamily="18" charset="0"/>
                    <a:cs typeface="+mn-cs"/>
                  </a:rPr>
                  <a:t> </a:t>
                </a:r>
                <a:r>
                  <a:rPr lang="en-US" dirty="0"/>
                  <a:t>testing records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dirty="0"/>
                  <a:t>), where </a:t>
                </a:r>
                <a:r>
                  <a:rPr lang="en-US" dirty="0">
                    <a:solidFill>
                      <a:srgbClr val="1A70B8"/>
                    </a:solidFill>
                    <a:latin typeface="Cambria Math" panose="02040503050406030204" pitchFamily="18" charset="0"/>
                    <a:cs typeface="+mn-cs"/>
                  </a:rPr>
                  <a:t>M</a:t>
                </a:r>
                <a:r>
                  <a:rPr lang="en-US" dirty="0"/>
                  <a:t>=1000 inputs were generated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G</m:t>
                        </m:r>
                      </m:sup>
                    </m:sSubSup>
                  </m:oMath>
                </a14:m>
                <a:r>
                  <a:rPr lang="en-US" dirty="0"/>
                  <a:t> and solved for output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 Placeholder 16">
                <a:extLst>
                  <a:ext uri="{FF2B5EF4-FFF2-40B4-BE49-F238E27FC236}">
                    <a16:creationId xmlns:a16="http://schemas.microsoft.com/office/drawing/2014/main" id="{3EBC2107-586C-8ABD-3CF8-A8FE6FF6F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294939" y="1582338"/>
                <a:ext cx="4046343" cy="2075262"/>
              </a:xfrm>
              <a:blipFill>
                <a:blip r:embed="rId2"/>
                <a:stretch>
                  <a:fillRect l="-3163" t="-3824" b="-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FE69864-EFB9-2ED1-EDCF-ABE0B088F863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1046955727"/>
                  </p:ext>
                </p:extLst>
              </p:nvPr>
            </p:nvGraphicFramePr>
            <p:xfrm>
              <a:off x="4596937" y="1747592"/>
              <a:ext cx="4065416" cy="1712196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413109">
                      <a:extLst>
                        <a:ext uri="{9D8B030D-6E8A-4147-A177-3AD203B41FA5}">
                          <a16:colId xmlns:a16="http://schemas.microsoft.com/office/drawing/2014/main" val="2608361671"/>
                        </a:ext>
                      </a:extLst>
                    </a:gridCol>
                    <a:gridCol w="1491277">
                      <a:extLst>
                        <a:ext uri="{9D8B030D-6E8A-4147-A177-3AD203B41FA5}">
                          <a16:colId xmlns:a16="http://schemas.microsoft.com/office/drawing/2014/main" val="971913437"/>
                        </a:ext>
                      </a:extLst>
                    </a:gridCol>
                    <a:gridCol w="1161030">
                      <a:extLst>
                        <a:ext uri="{9D8B030D-6E8A-4147-A177-3AD203B41FA5}">
                          <a16:colId xmlns:a16="http://schemas.microsoft.com/office/drawing/2014/main" val="642238099"/>
                        </a:ext>
                      </a:extLst>
                    </a:gridCol>
                  </a:tblGrid>
                  <a:tr h="34777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</a:rPr>
                            <a:t>Electrostatic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</a:rPr>
                            <a:t>Heat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95944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Best Epoch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1,900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2,500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12546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Validation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sz="16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𝓏</m:t>
                                  </m:r>
                                </m:sub>
                              </m:sSub>
                            </m:oMath>
                          </a14:m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−5,695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−5,969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94288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Testing Size </a:t>
                          </a:r>
                          <a:r>
                            <a:rPr lang="en-US" sz="1800" b="0" i="0" kern="1200" dirty="0">
                              <a:solidFill>
                                <a:srgbClr val="1A70B8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N</a:t>
                          </a:r>
                          <a:endParaRPr lang="en-US" sz="2000" b="0" i="0" kern="1200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491324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Agg Testing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a:rPr lang="en-US" sz="16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𝓎</m:t>
                                  </m:r>
                                </m:sub>
                              </m:sSub>
                            </m:oMath>
                          </a14:m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0.0032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0.0534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46503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CFE69864-EFB9-2ED1-EDCF-ABE0B088F863}"/>
                  </a:ext>
                </a:extLst>
              </p:cNvPr>
              <p:cNvGraphicFramePr>
                <a:graphicFrameLocks noGrp="1" noDrilldown="1" noMove="1" noResize="1"/>
              </p:cNvGraphicFramePr>
              <p:nvPr>
                <p:extLst>
                  <p:ext uri="{D42A27DB-BD31-4B8C-83A1-F6EECF244321}">
                    <p14:modId xmlns:p14="http://schemas.microsoft.com/office/powerpoint/2010/main" val="1046955727"/>
                  </p:ext>
                </p:extLst>
              </p:nvPr>
            </p:nvGraphicFramePr>
            <p:xfrm>
              <a:off x="4596937" y="1747592"/>
              <a:ext cx="4065416" cy="1712196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1413109">
                      <a:extLst>
                        <a:ext uri="{9D8B030D-6E8A-4147-A177-3AD203B41FA5}">
                          <a16:colId xmlns:a16="http://schemas.microsoft.com/office/drawing/2014/main" val="2608361671"/>
                        </a:ext>
                      </a:extLst>
                    </a:gridCol>
                    <a:gridCol w="1491277">
                      <a:extLst>
                        <a:ext uri="{9D8B030D-6E8A-4147-A177-3AD203B41FA5}">
                          <a16:colId xmlns:a16="http://schemas.microsoft.com/office/drawing/2014/main" val="971913437"/>
                        </a:ext>
                      </a:extLst>
                    </a:gridCol>
                    <a:gridCol w="1161030">
                      <a:extLst>
                        <a:ext uri="{9D8B030D-6E8A-4147-A177-3AD203B41FA5}">
                          <a16:colId xmlns:a16="http://schemas.microsoft.com/office/drawing/2014/main" val="642238099"/>
                        </a:ext>
                      </a:extLst>
                    </a:gridCol>
                  </a:tblGrid>
                  <a:tr h="34777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</a:rPr>
                            <a:t>Electrostatic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>
                              <a:solidFill>
                                <a:schemeClr val="bg1"/>
                              </a:solidFill>
                            </a:rPr>
                            <a:t>Heat</a:t>
                          </a:r>
                          <a:endParaRPr lang="en-US" sz="1600" b="1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69594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Best Epoch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1,900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2,500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125467"/>
                      </a:ext>
                    </a:extLst>
                  </a:tr>
                  <a:tr h="3356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194643" r="-188793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−5,695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−5,969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494288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Testing Size </a:t>
                          </a:r>
                          <a:r>
                            <a:rPr lang="en-US" sz="1800" b="0" i="0" kern="1200" dirty="0">
                              <a:solidFill>
                                <a:srgbClr val="1A70B8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N</a:t>
                          </a:r>
                          <a:endParaRPr lang="en-US" sz="2000" b="0" i="0" kern="1200" dirty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4913242"/>
                      </a:ext>
                    </a:extLst>
                  </a:tr>
                  <a:tr h="3582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381356" r="-188793" b="-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0.0032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kern="1200" baseline="0" dirty="0">
                              <a:solidFill>
                                <a:schemeClr val="tx1"/>
                              </a:solidFill>
                            </a:rPr>
                            <a:t>0.0534</a:t>
                          </a:r>
                          <a:endParaRPr lang="en-US" sz="1400" b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46503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880666C-D715-8B0A-3788-D6B9EE5651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82610" y="1147939"/>
            <a:ext cx="2157153" cy="272381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0F7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1A70B8"/>
                </a:solidFill>
              </a:rPr>
              <a:t>Best Model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0D71FE-0765-BCF9-EE79-A5873E2B808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5615" y="3903060"/>
                <a:ext cx="6953294" cy="5360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Aggregate Testing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𝓎</m:t>
                        </m:r>
                      </m:sub>
                    </m:sSub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1A70B8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sz="2000" i="0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solidFill>
                                  <a:srgbClr val="1A70B8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SmoothL</m:t>
                            </m:r>
                            <m: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i="0" dirty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  <m: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000" i="0" dirty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  <m:r>
                                  <m:rPr>
                                    <m:lit/>
                                  </m:rPr>
                                  <a:rPr lang="en-US" sz="2000" i="0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20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i="0" dirty="0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000" b="0" i="0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0D71FE-0765-BCF9-EE79-A5873E2B808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615" y="3903060"/>
                <a:ext cx="6953294" cy="536044"/>
              </a:xfrm>
              <a:prstGeom prst="rect">
                <a:avLst/>
              </a:prstGeom>
              <a:blipFill>
                <a:blip r:embed="rId4"/>
                <a:stretch>
                  <a:fillRect l="-876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87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7" grpId="0" build="p"/>
      <p:bldP spid="19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65C6-C540-88F5-F4D1-8727869E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BA603F-76A6-5B92-3B9D-7CB8A49B0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A70B8"/>
                </a:solidFill>
              </a:rPr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AA21F-20EF-5E4D-3C8C-70FAF84999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CE1BCCE-8080-D447-3F5C-36EEA0931C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>
                <p:ph type="body" sz="quarter" idx="20"/>
              </p:nvPr>
            </p:nvSpPr>
            <p:spPr>
              <a:xfrm>
                <a:off x="457199" y="1463885"/>
                <a:ext cx="3840481" cy="3034768"/>
              </a:xfrm>
            </p:spPr>
            <p:txBody>
              <a:bodyPr/>
              <a:lstStyle/>
              <a:p>
                <a:r>
                  <a:rPr lang="en-US" sz="1600" dirty="0"/>
                  <a:t>Provided two synthetic datasets with diverse simulation records for electrostatic potential and heat diffusion simulations</a:t>
                </a:r>
                <a:endParaRPr lang="en-US" sz="1600" dirty="0">
                  <a:latin typeface="+mn-lt"/>
                </a:endParaRPr>
              </a:p>
              <a:p>
                <a:r>
                  <a:rPr lang="en-US" sz="1600" dirty="0">
                    <a:latin typeface="+mn-lt"/>
                  </a:rPr>
                  <a:t>Designed a CNF model that learns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+mn-lt"/>
                  </a:rPr>
                  <a:t> to generate diverse, physically accurate initial conditions for a given output state</a:t>
                </a:r>
              </a:p>
              <a:p>
                <a:r>
                  <a:rPr lang="en-US" sz="1600" dirty="0">
                    <a:latin typeface="+mn-lt"/>
                  </a:rPr>
                  <a:t>Successfully generated 1000 candidate inputs that solve to a solution closely aligned with the original for both intermediate and steady output states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CE1BCCE-8080-D447-3F5C-36EEA0931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0"/>
              </p:nvPr>
            </p:nvSpPr>
            <p:spPr>
              <a:xfrm>
                <a:off x="457199" y="1463885"/>
                <a:ext cx="3840481" cy="3034768"/>
              </a:xfrm>
              <a:blipFill>
                <a:blip r:embed="rId2"/>
                <a:stretch>
                  <a:fillRect l="-3016" t="-2008" r="-2222" b="-5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80B8B00-81A6-F7E1-AA3D-D057CE151C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9405" y="2653699"/>
            <a:ext cx="3840480" cy="18449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2880" indent="-18288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9E6083-F9C4-DDED-21C2-03D248CCA2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4709405" y="1143000"/>
            <a:ext cx="3840480" cy="2723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A70B8"/>
                </a:solidFill>
              </a:rPr>
              <a:t>Current &amp; Next Steps</a:t>
            </a:r>
          </a:p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E1C3E6E-9633-0246-9449-F82B344597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09405" y="1463885"/>
            <a:ext cx="3840481" cy="3034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2880" indent="-18288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60375" indent="-230188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tabLst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88975" indent="-23177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14400" indent="-227013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−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+mn-lt"/>
              </a:rPr>
              <a:t>Train the model with datasets from simulating</a:t>
            </a:r>
            <a:r>
              <a:rPr lang="en-US" sz="1600" dirty="0"/>
              <a:t> interactions with</a:t>
            </a:r>
            <a:r>
              <a:rPr lang="en-US" sz="1600" dirty="0">
                <a:latin typeface="+mn-lt"/>
              </a:rPr>
              <a:t> real world material properties</a:t>
            </a:r>
            <a:r>
              <a:rPr lang="en-US" sz="1600" dirty="0">
                <a:latin typeface="+mj-lt"/>
              </a:rPr>
              <a:t> (e.g., material fracturing)</a:t>
            </a:r>
          </a:p>
          <a:p>
            <a:r>
              <a:rPr lang="en-US" sz="1600" dirty="0">
                <a:latin typeface="+mn-lt"/>
              </a:rPr>
              <a:t>Explore generating inputs for non-linear and unsteady inverse problems (e.g., reaction-diffusion systems)</a:t>
            </a:r>
          </a:p>
          <a:p>
            <a:r>
              <a:rPr lang="en-US" sz="1600" dirty="0">
                <a:latin typeface="+mn-lt"/>
              </a:rPr>
              <a:t>GPU/RAM Profiling and optimization of runtime performance and resource consumption</a:t>
            </a:r>
          </a:p>
        </p:txBody>
      </p:sp>
    </p:spTree>
    <p:extLst>
      <p:ext uri="{BB962C8B-B14F-4D97-AF65-F5344CB8AC3E}">
        <p14:creationId xmlns:p14="http://schemas.microsoft.com/office/powerpoint/2010/main" val="151774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981E-48EF-4DD9-C0D2-90138698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79FD9-C186-EFBF-7C43-A5AD216E9D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52" y="203103"/>
            <a:ext cx="5605043" cy="369332"/>
          </a:xfrm>
        </p:spPr>
        <p:txBody>
          <a:bodyPr/>
          <a:lstStyle/>
          <a:p>
            <a:r>
              <a:rPr lang="en-US" sz="2400" dirty="0">
                <a:solidFill>
                  <a:srgbClr val="0A197E"/>
                </a:solidFill>
              </a:rPr>
              <a:t>Thank you for attending!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614DC3-A36E-EBF1-EC39-884239A746B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10552" y="692963"/>
            <a:ext cx="2437075" cy="1471063"/>
            <a:chOff x="410552" y="692963"/>
            <a:chExt cx="2437075" cy="147106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DD5C84-5753-D847-A8BC-F1F19183D7B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552" y="963697"/>
              <a:ext cx="243707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0" u="none" strike="noStrike" baseline="0" dirty="0"/>
                <a:t>Leslie Horace</a:t>
              </a:r>
            </a:p>
            <a:p>
              <a:pPr algn="ctr"/>
              <a:r>
                <a:rPr lang="en-US" i="1" u="none" strike="noStrike" baseline="0" dirty="0"/>
                <a:t>Georgia Institute of</a:t>
              </a:r>
            </a:p>
            <a:p>
              <a:pPr algn="ctr"/>
              <a:r>
                <a:rPr lang="en-US" i="1" u="none" strike="noStrike" baseline="0" dirty="0"/>
                <a:t> Technology</a:t>
              </a:r>
            </a:p>
            <a:p>
              <a:pPr algn="ctr"/>
              <a:r>
                <a:rPr lang="en-US" i="0" u="sng" strike="noStrike" baseline="0" dirty="0">
                  <a:solidFill>
                    <a:srgbClr val="000F7E"/>
                  </a:solidFill>
                </a:rPr>
                <a:t>lhorace3@gatech.edu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CEDD8C35-F345-6DDD-7859-FC4AD430D01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4525" y="692963"/>
              <a:ext cx="2312141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000F7E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Wingdings" panose="05000000000000000000" pitchFamily="2" charset="2"/>
                </a:defRPr>
              </a:lvl1pPr>
            </a:lstStyle>
            <a:p>
              <a:r>
                <a:rPr lang="en-US" sz="2000" dirty="0">
                  <a:solidFill>
                    <a:srgbClr val="1A70B8"/>
                  </a:solidFill>
                </a:rPr>
                <a:t>Presenter / Author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34D05A-3BDC-7E8A-5B60-2E7A0F327A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220768" y="264658"/>
            <a:ext cx="2427241" cy="3997575"/>
            <a:chOff x="6220768" y="264658"/>
            <a:chExt cx="2427241" cy="399757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A4A2F21-A615-458D-8B3E-73278C1FC9D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20768" y="605519"/>
              <a:ext cx="2427241" cy="3656714"/>
              <a:chOff x="6220768" y="605519"/>
              <a:chExt cx="2427241" cy="365671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1C9D840-D928-966F-EE28-92451437B37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701" y="1828851"/>
                <a:ext cx="231214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0" u="none" strike="noStrike" baseline="0" dirty="0"/>
                  <a:t>Vanessa Job</a:t>
                </a:r>
              </a:p>
              <a:p>
                <a:pPr algn="ctr"/>
                <a:r>
                  <a:rPr lang="en-US" b="0" i="1" u="none" strike="noStrike" baseline="0" dirty="0"/>
                  <a:t>Los Alamos National</a:t>
                </a:r>
                <a:r>
                  <a:rPr lang="en-US" i="1" dirty="0"/>
                  <a:t> </a:t>
                </a:r>
              </a:p>
              <a:p>
                <a:pPr algn="ctr"/>
                <a:r>
                  <a:rPr lang="en-US" b="0" i="1" u="none" strike="noStrike" baseline="0" dirty="0"/>
                  <a:t>Laboratory</a:t>
                </a:r>
              </a:p>
              <a:p>
                <a:pPr algn="ctr"/>
                <a:r>
                  <a:rPr lang="en-US" i="0" u="sng" strike="noStrike" baseline="0" dirty="0">
                    <a:solidFill>
                      <a:srgbClr val="000F7E"/>
                    </a:solidFill>
                  </a:rPr>
                  <a:t>vjob@lanl.gov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A6A455-AF8A-6BCD-6105-CC70DC72DB6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47752" y="3061904"/>
                <a:ext cx="240025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0" u="none" strike="noStrike" baseline="0" dirty="0"/>
                  <a:t>William Jones</a:t>
                </a:r>
              </a:p>
              <a:p>
                <a:pPr algn="ctr"/>
                <a:r>
                  <a:rPr lang="en-US" b="0" i="1" u="none" strike="noStrike" baseline="0" dirty="0"/>
                  <a:t>Coastal Carolina </a:t>
                </a:r>
              </a:p>
              <a:p>
                <a:pPr algn="ctr"/>
                <a:r>
                  <a:rPr lang="en-US" b="0" i="1" u="none" strike="noStrike" baseline="0" dirty="0"/>
                  <a:t>University</a:t>
                </a:r>
              </a:p>
              <a:p>
                <a:pPr algn="ctr"/>
                <a:r>
                  <a:rPr lang="en-US" i="0" u="sng" strike="noStrike" baseline="0" dirty="0">
                    <a:solidFill>
                      <a:srgbClr val="0A197E"/>
                    </a:solidFill>
                  </a:rPr>
                  <a:t>wjones@coastal.edu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E585C93-5F94-0728-F2CC-B01D01E254E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20768" y="605519"/>
                <a:ext cx="238318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i="0" u="none" strike="noStrike" baseline="0" dirty="0"/>
                  <a:t>Christin Whitton</a:t>
                </a:r>
              </a:p>
              <a:p>
                <a:pPr algn="ctr"/>
                <a:r>
                  <a:rPr lang="en-US" b="0" i="1" u="none" strike="noStrike" baseline="0" dirty="0"/>
                  <a:t>Los Alamos National</a:t>
                </a:r>
              </a:p>
              <a:p>
                <a:pPr algn="ctr"/>
                <a:r>
                  <a:rPr lang="en-US" b="0" i="1" u="none" strike="noStrike" baseline="0" dirty="0"/>
                  <a:t> Laboratory</a:t>
                </a:r>
              </a:p>
              <a:p>
                <a:pPr algn="ctr"/>
                <a:r>
                  <a:rPr lang="en-US" i="0" u="sng" strike="noStrike" baseline="0" dirty="0">
                    <a:solidFill>
                      <a:srgbClr val="000F7E"/>
                    </a:solidFill>
                  </a:rPr>
                  <a:t>cwhitton@lanl.gov</a:t>
                </a:r>
              </a:p>
            </p:txBody>
          </p:sp>
        </p:grpSp>
        <p:sp>
          <p:nvSpPr>
            <p:cNvPr id="44" name="Title 1">
              <a:extLst>
                <a:ext uri="{FF2B5EF4-FFF2-40B4-BE49-F238E27FC236}">
                  <a16:creationId xmlns:a16="http://schemas.microsoft.com/office/drawing/2014/main" id="{F31EE146-B09B-646C-0CB7-1507F6DF3E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41055" y="264658"/>
              <a:ext cx="1342610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000F7E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Wingdings" panose="05000000000000000000" pitchFamily="2" charset="2"/>
                </a:defRPr>
              </a:lvl1pPr>
            </a:lstStyle>
            <a:p>
              <a:r>
                <a:rPr lang="en-US" sz="2000" dirty="0">
                  <a:solidFill>
                    <a:srgbClr val="1A70B8"/>
                  </a:solidFill>
                </a:rPr>
                <a:t>Coauthors</a:t>
              </a: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AB9B0A7C-7080-E1B1-8EF1-A28957AEBE4E}"/>
              </a:ext>
            </a:extLst>
          </p:cNvPr>
          <p:cNvSpPr txBox="1">
            <a:spLocks/>
          </p:cNvSpPr>
          <p:nvPr/>
        </p:nvSpPr>
        <p:spPr>
          <a:xfrm>
            <a:off x="4117199" y="190759"/>
            <a:ext cx="191705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rgbClr val="000F7E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en-US" sz="2400" dirty="0">
                <a:solidFill>
                  <a:srgbClr val="0A197E"/>
                </a:solidFill>
              </a:rPr>
              <a:t>Questions?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15E803-7D92-9D3F-BFCD-65D81618351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88929" y="1107948"/>
            <a:ext cx="2715424" cy="2738786"/>
            <a:chOff x="3043655" y="1107948"/>
            <a:chExt cx="2715424" cy="2738786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A6C4778-312F-DB4B-E195-4839F9B139D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65612" y="1107948"/>
              <a:ext cx="2471510" cy="247151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9EF028-51EA-7282-B02A-6FBB52679CC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43655" y="3477402"/>
              <a:ext cx="27154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spcBef>
                  <a:spcPct val="0"/>
                </a:spcBef>
              </a:pPr>
              <a:r>
                <a:rPr lang="en-US" b="1" dirty="0">
                  <a:solidFill>
                    <a:srgbClr val="0A197E"/>
                  </a:solidFill>
                </a:rPr>
                <a:t>Paper Resources Page</a:t>
              </a:r>
              <a:endParaRPr lang="en-US" b="1" dirty="0">
                <a:solidFill>
                  <a:srgbClr val="0A197E"/>
                </a:solidFill>
                <a:ea typeface="+mj-ea"/>
                <a:cs typeface="Arial" panose="020B0604020202020204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090844A-FD05-F3E8-CE85-5A561F078F7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3669" y="2571750"/>
            <a:ext cx="2592580" cy="1486464"/>
            <a:chOff x="3275710" y="677561"/>
            <a:chExt cx="2592580" cy="14864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EA3A96-DB62-22EC-1C99-442076BA364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75710" y="963696"/>
              <a:ext cx="259258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i="0" u="none" strike="noStrike" baseline="0" dirty="0"/>
                <a:t>Nathan DeBardeleben</a:t>
              </a:r>
            </a:p>
            <a:p>
              <a:pPr algn="ctr"/>
              <a:r>
                <a:rPr lang="en-US" b="0" i="1" u="none" strike="noStrike" baseline="0" dirty="0"/>
                <a:t>Los Alamos National </a:t>
              </a:r>
            </a:p>
            <a:p>
              <a:pPr algn="ctr"/>
              <a:r>
                <a:rPr lang="en-US" b="0" i="1" u="none" strike="noStrike" baseline="0" dirty="0"/>
                <a:t>Laboratory</a:t>
              </a:r>
            </a:p>
            <a:p>
              <a:pPr algn="ctr"/>
              <a:r>
                <a:rPr lang="en-US" i="0" u="sng" strike="noStrike" baseline="0" dirty="0">
                  <a:solidFill>
                    <a:srgbClr val="000F7E"/>
                  </a:solidFill>
                </a:rPr>
                <a:t>ndebard@lanl.gov</a:t>
              </a:r>
              <a:endParaRPr lang="en-US" u="sng" dirty="0">
                <a:solidFill>
                  <a:srgbClr val="000F7E"/>
                </a:solidFill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C161676E-E45C-D558-6947-00D34DA9509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422167" y="677561"/>
              <a:ext cx="2299665" cy="30777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l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800" b="1" i="0" kern="1200">
                  <a:solidFill>
                    <a:srgbClr val="000F7E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Wingdings" panose="05000000000000000000" pitchFamily="2" charset="2"/>
                </a:defRPr>
              </a:lvl1pPr>
            </a:lstStyle>
            <a:p>
              <a:r>
                <a:rPr lang="en-US" sz="2000" dirty="0">
                  <a:solidFill>
                    <a:srgbClr val="1A70B8"/>
                  </a:solidFill>
                </a:rPr>
                <a:t>Funder / Coauthor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814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563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0AE9-FB8A-9D67-8A3A-B12FC794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Workflow:  Expanded Version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A95A0D5-4B12-17EE-F617-472205D4C941}"/>
              </a:ext>
            </a:extLst>
          </p:cNvPr>
          <p:cNvPicPr preferRelativeResize="0"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72" r="-5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2675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04FB-A5BA-7628-3F52-F3B56477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Workflow: Expanded Version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236A963-9C24-2C39-8DB7-5EA7DCEC61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3684" b="-136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78009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E2BB-4777-55FF-5512-17860357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A70B8"/>
                </a:solidFill>
              </a:rPr>
              <a:t>Block Network: Forward Single Pass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79223CB-791C-89E9-56C0-1B3E737E62F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395" r="-53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32445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F5E5-7C25-05E3-B5B6-DF44B1E7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F2B5-B96D-A189-3281-2AE59C4F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A70B8"/>
                </a:solidFill>
              </a:rPr>
              <a:t>Block Network: Reverse Single Pass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5E52C83-FDEB-CE3D-7F96-0B2091D5849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0037" r="-1003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32541506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000E7E"/>
      </a:dk2>
      <a:lt2>
        <a:srgbClr val="E7E6E6"/>
      </a:lt2>
      <a:accent1>
        <a:srgbClr val="0070C1"/>
      </a:accent1>
      <a:accent2>
        <a:srgbClr val="FF9128"/>
      </a:accent2>
      <a:accent3>
        <a:srgbClr val="CCD0E1"/>
      </a:accent3>
      <a:accent4>
        <a:srgbClr val="00A963"/>
      </a:accent4>
      <a:accent5>
        <a:srgbClr val="69C3FF"/>
      </a:accent5>
      <a:accent6>
        <a:srgbClr val="EB0E1D"/>
      </a:accent6>
      <a:hlink>
        <a:srgbClr val="69C3FF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16349</TotalTime>
  <Words>1137</Words>
  <Application>Microsoft Office PowerPoint</Application>
  <PresentationFormat>On-screen Show (16:9)</PresentationFormat>
  <Paragraphs>187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Acumin Pro</vt:lpstr>
      <vt:lpstr>Source Sans Pro</vt:lpstr>
      <vt:lpstr>System Font Regular</vt:lpstr>
      <vt:lpstr>Wingdings</vt:lpstr>
      <vt:lpstr>Calibri</vt:lpstr>
      <vt:lpstr>Arial</vt:lpstr>
      <vt:lpstr>Cambria Math</vt:lpstr>
      <vt:lpstr>Wingdings 2</vt:lpstr>
      <vt:lpstr>Main</vt:lpstr>
      <vt:lpstr>Custom Design</vt:lpstr>
      <vt:lpstr>Inverse Design for Generating Initial Conditions in Scientific Simulations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 Workflow </vt:lpstr>
      <vt:lpstr>Inference Workflow</vt:lpstr>
      <vt:lpstr>Model Performance: Electrostatic Potential</vt:lpstr>
      <vt:lpstr>Generated Samples: Electrostatic Potential</vt:lpstr>
      <vt:lpstr>Model Performance: Heat Diffusion</vt:lpstr>
      <vt:lpstr>Generated Analysis: Heat Diffusion</vt:lpstr>
      <vt:lpstr>PowerPoint Presentation</vt:lpstr>
      <vt:lpstr>PowerPoint Presentation</vt:lpstr>
      <vt:lpstr>Thank you for attending! </vt:lpstr>
      <vt:lpstr>PowerPoint Presentation</vt:lpstr>
      <vt:lpstr>Training Workflow:  Expanded Version</vt:lpstr>
      <vt:lpstr>Inference Workflow: Expanded Version</vt:lpstr>
      <vt:lpstr>Block Network: Forward Single Pass</vt:lpstr>
      <vt:lpstr>Block Network: Reverse Single Pass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Leslie Horace</cp:lastModifiedBy>
  <cp:revision>278</cp:revision>
  <dcterms:created xsi:type="dcterms:W3CDTF">2020-12-17T00:35:24Z</dcterms:created>
  <dcterms:modified xsi:type="dcterms:W3CDTF">2025-11-13T21:58:01Z</dcterms:modified>
</cp:coreProperties>
</file>